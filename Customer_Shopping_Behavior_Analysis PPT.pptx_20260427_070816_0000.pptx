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rompt Medium" charset="1" panose="00000600000000000000"/>
      <p:regular r:id="rId20"/>
    </p:embeddedFont>
    <p:embeddedFont>
      <p:font typeface="Mukta Light" charset="1" panose="020B0000000000000000"/>
      <p:regular r:id="rId21"/>
    </p:embeddedFont>
    <p:embeddedFont>
      <p:font typeface="Prompt Light" charset="1" panose="00000400000000000000"/>
      <p:regular r:id="rId24"/>
    </p:embeddedFont>
    <p:embeddedFont>
      <p:font typeface="Mukta Bold" charset="1" panose="020B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4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3.png" Type="http://schemas.openxmlformats.org/officeDocument/2006/relationships/image"/><Relationship Id="rId6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Relationship Id="rId6" Target="../media/image1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4.jpe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458310">
            <a:off x="-128296" y="-1779746"/>
            <a:ext cx="20657056" cy="11619594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938049" y="3532432"/>
            <a:ext cx="9269911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Customer Shopping Behavior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38049" y="5643115"/>
            <a:ext cx="9269911" cy="108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Uncovering insights from 3,900 purchases to guide strategic business decisions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1198959"/>
            <a:ext cx="685800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Dataset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3008557"/>
            <a:ext cx="5118792" cy="86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3,900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4802" y="4250531"/>
            <a:ext cx="374927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68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Transactions Analyzed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0049" y="4778578"/>
            <a:ext cx="5118792" cy="108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Purchase data across diverse product categories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84604" y="3008557"/>
            <a:ext cx="5118792" cy="86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18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29500" y="4250531"/>
            <a:ext cx="34290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68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Data Fields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84604" y="4778578"/>
            <a:ext cx="5118792" cy="108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Comprehensive customer and purchase details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89159" y="3008557"/>
            <a:ext cx="5118792" cy="86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37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34055" y="4250531"/>
            <a:ext cx="34290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68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Missing Values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89159" y="4778578"/>
            <a:ext cx="5118792" cy="589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Addressed in Review Rating column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0049" y="6507509"/>
            <a:ext cx="34290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Key Features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0049" y="7158933"/>
            <a:ext cx="7687570" cy="1792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8180" indent="-179090" lvl="1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Customer demographics (Age, Gender, Location)</a:t>
            </a:r>
          </a:p>
          <a:p>
            <a:pPr algn="l" marL="358180" indent="-179090" lvl="1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Purchase details (Category, Amount, Season)</a:t>
            </a:r>
          </a:p>
          <a:p>
            <a:pPr algn="l" marL="358180" indent="-179090" lvl="1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Shopping behavior (Discounts, Frequency, Ratings)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29915" y="6507509"/>
            <a:ext cx="34290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Missing Data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29915" y="7158933"/>
            <a:ext cx="7687570" cy="108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37 values in Review Rating column imputed using median ratings by product category.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1673866"/>
            <a:ext cx="8432006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Data Preparation Process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3081633"/>
            <a:ext cx="617191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Prompt Light"/>
                <a:ea typeface="Prompt Light"/>
                <a:cs typeface="Prompt Light"/>
                <a:sym typeface="Prompt Light"/>
              </a:rPr>
              <a:t>01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80049" y="3663258"/>
            <a:ext cx="5170284" cy="38100"/>
            <a:chOff x="0" y="0"/>
            <a:chExt cx="6893712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93687" cy="50800"/>
            </a:xfrm>
            <a:custGeom>
              <a:avLst/>
              <a:gdLst/>
              <a:ahLst/>
              <a:cxnLst/>
              <a:rect r="r" b="b" t="t" l="l"/>
              <a:pathLst>
                <a:path h="50800" w="6893687">
                  <a:moveTo>
                    <a:pt x="0" y="0"/>
                  </a:moveTo>
                  <a:lnTo>
                    <a:pt x="6893687" y="0"/>
                  </a:lnTo>
                  <a:lnTo>
                    <a:pt x="689368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A95B95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80049" y="3884114"/>
            <a:ext cx="34290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Data Loading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0049" y="4412161"/>
            <a:ext cx="5170284" cy="157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Imported dataset using pandas with initial exploration via df.info() and describe()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58858" y="3081633"/>
            <a:ext cx="617191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Prompt Light"/>
                <a:ea typeface="Prompt Light"/>
                <a:cs typeface="Prompt Light"/>
                <a:sym typeface="Prompt Light"/>
              </a:rPr>
              <a:t>02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58858" y="3663258"/>
            <a:ext cx="5170284" cy="38100"/>
            <a:chOff x="0" y="0"/>
            <a:chExt cx="6893712" cy="5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93687" cy="50800"/>
            </a:xfrm>
            <a:custGeom>
              <a:avLst/>
              <a:gdLst/>
              <a:ahLst/>
              <a:cxnLst/>
              <a:rect r="r" b="b" t="t" l="l"/>
              <a:pathLst>
                <a:path h="50800" w="6893687">
                  <a:moveTo>
                    <a:pt x="0" y="0"/>
                  </a:moveTo>
                  <a:lnTo>
                    <a:pt x="6893687" y="0"/>
                  </a:lnTo>
                  <a:lnTo>
                    <a:pt x="689368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A95B95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558858" y="3884114"/>
            <a:ext cx="372159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Missing Data Handling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58858" y="4412161"/>
            <a:ext cx="5170284" cy="108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Imputed 37 missing review ratings using median by product category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37666" y="3081633"/>
            <a:ext cx="617191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Prompt Light"/>
                <a:ea typeface="Prompt Light"/>
                <a:cs typeface="Prompt Light"/>
                <a:sym typeface="Prompt Light"/>
              </a:rPr>
              <a:t>03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037666" y="3663258"/>
            <a:ext cx="5170284" cy="38100"/>
            <a:chOff x="0" y="0"/>
            <a:chExt cx="6893712" cy="50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93687" cy="50800"/>
            </a:xfrm>
            <a:custGeom>
              <a:avLst/>
              <a:gdLst/>
              <a:ahLst/>
              <a:cxnLst/>
              <a:rect r="r" b="b" t="t" l="l"/>
              <a:pathLst>
                <a:path h="50800" w="6893687">
                  <a:moveTo>
                    <a:pt x="0" y="0"/>
                  </a:moveTo>
                  <a:lnTo>
                    <a:pt x="6893687" y="0"/>
                  </a:lnTo>
                  <a:lnTo>
                    <a:pt x="689368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A95B95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037666" y="3884114"/>
            <a:ext cx="397401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Column Standardization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37666" y="4412161"/>
            <a:ext cx="5170284" cy="108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Rewrote columns to snake case for better readability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0049" y="6433547"/>
            <a:ext cx="617191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Prompt Light"/>
                <a:ea typeface="Prompt Light"/>
                <a:cs typeface="Prompt Light"/>
                <a:sym typeface="Prompt Light"/>
              </a:rPr>
              <a:t>04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80049" y="7015162"/>
            <a:ext cx="7909617" cy="38100"/>
            <a:chOff x="0" y="0"/>
            <a:chExt cx="10546156" cy="50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546207" cy="50800"/>
            </a:xfrm>
            <a:custGeom>
              <a:avLst/>
              <a:gdLst/>
              <a:ahLst/>
              <a:cxnLst/>
              <a:rect r="r" b="b" t="t" l="l"/>
              <a:pathLst>
                <a:path h="50800" w="10546207">
                  <a:moveTo>
                    <a:pt x="0" y="0"/>
                  </a:moveTo>
                  <a:lnTo>
                    <a:pt x="10546207" y="0"/>
                  </a:lnTo>
                  <a:lnTo>
                    <a:pt x="1054620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A95B95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080049" y="7236028"/>
            <a:ext cx="34290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Feature Engineering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80049" y="7764066"/>
            <a:ext cx="7909617" cy="589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Created age_group and purchase_frequency_days columns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98191" y="6433547"/>
            <a:ext cx="617191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Prompt Light"/>
                <a:ea typeface="Prompt Light"/>
                <a:cs typeface="Prompt Light"/>
                <a:sym typeface="Prompt Light"/>
              </a:rPr>
              <a:t>05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98191" y="7015162"/>
            <a:ext cx="7909770" cy="38100"/>
            <a:chOff x="0" y="0"/>
            <a:chExt cx="10546359" cy="50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546334" cy="50800"/>
            </a:xfrm>
            <a:custGeom>
              <a:avLst/>
              <a:gdLst/>
              <a:ahLst/>
              <a:cxnLst/>
              <a:rect r="r" b="b" t="t" l="l"/>
              <a:pathLst>
                <a:path h="50800" w="10546334">
                  <a:moveTo>
                    <a:pt x="0" y="0"/>
                  </a:moveTo>
                  <a:lnTo>
                    <a:pt x="10546334" y="0"/>
                  </a:lnTo>
                  <a:lnTo>
                    <a:pt x="10546334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A95B95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298191" y="7236028"/>
            <a:ext cx="349210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Database Integration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98191" y="7764066"/>
            <a:ext cx="7909770" cy="589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Connected to PostgreSQL and loaded cleaned DataFrame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80049" y="2623842"/>
            <a:ext cx="9269911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SQL Analysis: Revenue Insights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0049" y="5128765"/>
            <a:ext cx="34290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Revenue by Gender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0049" y="5780189"/>
            <a:ext cx="4258570" cy="157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Male customers generated </a:t>
            </a:r>
            <a:r>
              <a:rPr lang="en-US" sz="2375" b="true">
                <a:solidFill>
                  <a:srgbClr val="A95B95"/>
                </a:solidFill>
                <a:latin typeface="Mukta Bold"/>
                <a:ea typeface="Mukta Bold"/>
                <a:cs typeface="Mukta Bold"/>
                <a:sym typeface="Mukta Bold"/>
              </a:rPr>
              <a:t>$157,890</a:t>
            </a: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vs. Female customers at </a:t>
            </a:r>
            <a:r>
              <a:rPr lang="en-US" sz="2375" b="true">
                <a:solidFill>
                  <a:srgbClr val="A95B95"/>
                </a:solidFill>
                <a:latin typeface="Mukta Bold"/>
                <a:ea typeface="Mukta Bold"/>
                <a:cs typeface="Mukta Bold"/>
                <a:sym typeface="Mukta Bold"/>
              </a:rPr>
              <a:t>$75,191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00915" y="5128765"/>
            <a:ext cx="3595097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Shipping Comparison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00915" y="5780189"/>
            <a:ext cx="4258570" cy="108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Express shipping: </a:t>
            </a:r>
            <a:r>
              <a:rPr lang="en-US" sz="2375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$60.48</a:t>
            </a: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average vs. Standard: </a:t>
            </a:r>
            <a:r>
              <a:rPr lang="en-US" sz="2375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$58.46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2632319"/>
            <a:ext cx="7100145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Product Performance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70524" y="4125811"/>
            <a:ext cx="5189334" cy="3509810"/>
            <a:chOff x="0" y="0"/>
            <a:chExt cx="6919112" cy="46797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6893687" cy="4654423"/>
            </a:xfrm>
            <a:custGeom>
              <a:avLst/>
              <a:gdLst/>
              <a:ahLst/>
              <a:cxnLst/>
              <a:rect r="r" b="b" t="t" l="l"/>
              <a:pathLst>
                <a:path h="4654423" w="6893687">
                  <a:moveTo>
                    <a:pt x="0" y="172847"/>
                  </a:moveTo>
                  <a:cubicBezTo>
                    <a:pt x="0" y="77343"/>
                    <a:pt x="77470" y="0"/>
                    <a:pt x="173101" y="0"/>
                  </a:cubicBezTo>
                  <a:lnTo>
                    <a:pt x="6720586" y="0"/>
                  </a:lnTo>
                  <a:cubicBezTo>
                    <a:pt x="6816217" y="0"/>
                    <a:pt x="6893687" y="77343"/>
                    <a:pt x="6893687" y="172847"/>
                  </a:cubicBezTo>
                  <a:lnTo>
                    <a:pt x="6893687" y="4481576"/>
                  </a:lnTo>
                  <a:cubicBezTo>
                    <a:pt x="6893687" y="4577080"/>
                    <a:pt x="6816217" y="4654423"/>
                    <a:pt x="6720586" y="4654423"/>
                  </a:cubicBezTo>
                  <a:lnTo>
                    <a:pt x="173101" y="4654423"/>
                  </a:lnTo>
                  <a:cubicBezTo>
                    <a:pt x="77470" y="4654296"/>
                    <a:pt x="0" y="4576953"/>
                    <a:pt x="0" y="4481576"/>
                  </a:cubicBezTo>
                  <a:close/>
                </a:path>
              </a:pathLst>
            </a:custGeom>
            <a:solidFill>
              <a:srgbClr val="542C49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19087" cy="4679823"/>
            </a:xfrm>
            <a:custGeom>
              <a:avLst/>
              <a:gdLst/>
              <a:ahLst/>
              <a:cxnLst/>
              <a:rect r="r" b="b" t="t" l="l"/>
              <a:pathLst>
                <a:path h="4679823" w="6919087">
                  <a:moveTo>
                    <a:pt x="0" y="185547"/>
                  </a:moveTo>
                  <a:cubicBezTo>
                    <a:pt x="0" y="83058"/>
                    <a:pt x="83185" y="0"/>
                    <a:pt x="185801" y="0"/>
                  </a:cubicBezTo>
                  <a:lnTo>
                    <a:pt x="6733286" y="0"/>
                  </a:lnTo>
                  <a:lnTo>
                    <a:pt x="6733286" y="12700"/>
                  </a:lnTo>
                  <a:lnTo>
                    <a:pt x="6733286" y="0"/>
                  </a:lnTo>
                  <a:cubicBezTo>
                    <a:pt x="6835902" y="0"/>
                    <a:pt x="6919087" y="83058"/>
                    <a:pt x="6919087" y="185547"/>
                  </a:cubicBezTo>
                  <a:lnTo>
                    <a:pt x="6906387" y="185547"/>
                  </a:lnTo>
                  <a:lnTo>
                    <a:pt x="6919087" y="185547"/>
                  </a:lnTo>
                  <a:lnTo>
                    <a:pt x="6919087" y="4494276"/>
                  </a:lnTo>
                  <a:lnTo>
                    <a:pt x="6906387" y="4494276"/>
                  </a:lnTo>
                  <a:lnTo>
                    <a:pt x="6919087" y="4494276"/>
                  </a:lnTo>
                  <a:cubicBezTo>
                    <a:pt x="6919087" y="4596765"/>
                    <a:pt x="6835902" y="4679823"/>
                    <a:pt x="6733286" y="4679823"/>
                  </a:cubicBezTo>
                  <a:lnTo>
                    <a:pt x="6733286" y="4667123"/>
                  </a:lnTo>
                  <a:lnTo>
                    <a:pt x="6733286" y="4679823"/>
                  </a:lnTo>
                  <a:lnTo>
                    <a:pt x="185801" y="4679823"/>
                  </a:lnTo>
                  <a:lnTo>
                    <a:pt x="185801" y="4667123"/>
                  </a:lnTo>
                  <a:lnTo>
                    <a:pt x="185801" y="4679823"/>
                  </a:lnTo>
                  <a:cubicBezTo>
                    <a:pt x="83185" y="4679696"/>
                    <a:pt x="0" y="4596765"/>
                    <a:pt x="0" y="4494276"/>
                  </a:cubicBezTo>
                  <a:lnTo>
                    <a:pt x="0" y="185547"/>
                  </a:lnTo>
                  <a:lnTo>
                    <a:pt x="12700" y="185547"/>
                  </a:lnTo>
                  <a:lnTo>
                    <a:pt x="0" y="185547"/>
                  </a:lnTo>
                  <a:moveTo>
                    <a:pt x="25400" y="185547"/>
                  </a:moveTo>
                  <a:lnTo>
                    <a:pt x="25400" y="4494276"/>
                  </a:lnTo>
                  <a:lnTo>
                    <a:pt x="12700" y="4494276"/>
                  </a:lnTo>
                  <a:lnTo>
                    <a:pt x="25400" y="4494276"/>
                  </a:lnTo>
                  <a:cubicBezTo>
                    <a:pt x="25400" y="4582668"/>
                    <a:pt x="97155" y="4654423"/>
                    <a:pt x="185801" y="4654423"/>
                  </a:cubicBezTo>
                  <a:lnTo>
                    <a:pt x="6733286" y="4654423"/>
                  </a:lnTo>
                  <a:cubicBezTo>
                    <a:pt x="6821932" y="4654423"/>
                    <a:pt x="6893687" y="4582668"/>
                    <a:pt x="6893687" y="4494276"/>
                  </a:cubicBezTo>
                  <a:lnTo>
                    <a:pt x="6893687" y="185547"/>
                  </a:lnTo>
                  <a:cubicBezTo>
                    <a:pt x="6893687" y="97155"/>
                    <a:pt x="6821932" y="25400"/>
                    <a:pt x="6733286" y="25400"/>
                  </a:cubicBezTo>
                  <a:lnTo>
                    <a:pt x="185801" y="25400"/>
                  </a:lnTo>
                  <a:lnTo>
                    <a:pt x="185801" y="12700"/>
                  </a:lnTo>
                  <a:lnTo>
                    <a:pt x="185801" y="25400"/>
                  </a:lnTo>
                  <a:cubicBezTo>
                    <a:pt x="97155" y="25400"/>
                    <a:pt x="25400" y="97155"/>
                    <a:pt x="25400" y="185547"/>
                  </a:cubicBezTo>
                  <a:close/>
                </a:path>
              </a:pathLst>
            </a:custGeom>
            <a:solidFill>
              <a:srgbClr val="6D456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7614" y="4462910"/>
            <a:ext cx="925716" cy="925716"/>
            <a:chOff x="0" y="0"/>
            <a:chExt cx="1234288" cy="12342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4313" cy="1234313"/>
            </a:xfrm>
            <a:custGeom>
              <a:avLst/>
              <a:gdLst/>
              <a:ahLst/>
              <a:cxnLst/>
              <a:rect r="r" b="b" t="t" l="l"/>
              <a:pathLst>
                <a:path h="1234313" w="1234313">
                  <a:moveTo>
                    <a:pt x="0" y="617093"/>
                  </a:moveTo>
                  <a:cubicBezTo>
                    <a:pt x="0" y="276352"/>
                    <a:pt x="276352" y="0"/>
                    <a:pt x="617093" y="0"/>
                  </a:cubicBezTo>
                  <a:cubicBezTo>
                    <a:pt x="957834" y="0"/>
                    <a:pt x="1234313" y="276352"/>
                    <a:pt x="1234313" y="617093"/>
                  </a:cubicBezTo>
                  <a:cubicBezTo>
                    <a:pt x="1234313" y="957834"/>
                    <a:pt x="957961" y="1234313"/>
                    <a:pt x="617093" y="1234313"/>
                  </a:cubicBezTo>
                  <a:cubicBezTo>
                    <a:pt x="276225" y="1234313"/>
                    <a:pt x="0" y="957961"/>
                    <a:pt x="0" y="617093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662112" y="4717409"/>
            <a:ext cx="416566" cy="416566"/>
          </a:xfrm>
          <a:custGeom>
            <a:avLst/>
            <a:gdLst/>
            <a:ahLst/>
            <a:cxnLst/>
            <a:rect r="r" b="b" t="t" l="l"/>
            <a:pathLst>
              <a:path h="416566" w="416566">
                <a:moveTo>
                  <a:pt x="0" y="0"/>
                </a:moveTo>
                <a:lnTo>
                  <a:pt x="416567" y="0"/>
                </a:lnTo>
                <a:lnTo>
                  <a:pt x="416567" y="416566"/>
                </a:lnTo>
                <a:lnTo>
                  <a:pt x="0" y="4165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272" t="0" r="-2272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07614" y="5687616"/>
            <a:ext cx="34290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Top Rated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07614" y="6215653"/>
            <a:ext cx="4515145" cy="108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Gloves (3.86), Sandals (3.84), Boots (3.82)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49333" y="4125811"/>
            <a:ext cx="5189334" cy="3509810"/>
            <a:chOff x="0" y="0"/>
            <a:chExt cx="6919112" cy="467974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00" y="12700"/>
              <a:ext cx="6893687" cy="4654423"/>
            </a:xfrm>
            <a:custGeom>
              <a:avLst/>
              <a:gdLst/>
              <a:ahLst/>
              <a:cxnLst/>
              <a:rect r="r" b="b" t="t" l="l"/>
              <a:pathLst>
                <a:path h="4654423" w="6893687">
                  <a:moveTo>
                    <a:pt x="0" y="172847"/>
                  </a:moveTo>
                  <a:cubicBezTo>
                    <a:pt x="0" y="77343"/>
                    <a:pt x="77470" y="0"/>
                    <a:pt x="173101" y="0"/>
                  </a:cubicBezTo>
                  <a:lnTo>
                    <a:pt x="6720586" y="0"/>
                  </a:lnTo>
                  <a:cubicBezTo>
                    <a:pt x="6816217" y="0"/>
                    <a:pt x="6893687" y="77343"/>
                    <a:pt x="6893687" y="172847"/>
                  </a:cubicBezTo>
                  <a:lnTo>
                    <a:pt x="6893687" y="4481576"/>
                  </a:lnTo>
                  <a:cubicBezTo>
                    <a:pt x="6893687" y="4577080"/>
                    <a:pt x="6816217" y="4654423"/>
                    <a:pt x="6720586" y="4654423"/>
                  </a:cubicBezTo>
                  <a:lnTo>
                    <a:pt x="173101" y="4654423"/>
                  </a:lnTo>
                  <a:cubicBezTo>
                    <a:pt x="77470" y="4654296"/>
                    <a:pt x="0" y="4576953"/>
                    <a:pt x="0" y="4481576"/>
                  </a:cubicBezTo>
                  <a:close/>
                </a:path>
              </a:pathLst>
            </a:custGeom>
            <a:solidFill>
              <a:srgbClr val="542C49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19087" cy="4679823"/>
            </a:xfrm>
            <a:custGeom>
              <a:avLst/>
              <a:gdLst/>
              <a:ahLst/>
              <a:cxnLst/>
              <a:rect r="r" b="b" t="t" l="l"/>
              <a:pathLst>
                <a:path h="4679823" w="6919087">
                  <a:moveTo>
                    <a:pt x="0" y="185547"/>
                  </a:moveTo>
                  <a:cubicBezTo>
                    <a:pt x="0" y="83058"/>
                    <a:pt x="83185" y="0"/>
                    <a:pt x="185801" y="0"/>
                  </a:cubicBezTo>
                  <a:lnTo>
                    <a:pt x="6733286" y="0"/>
                  </a:lnTo>
                  <a:lnTo>
                    <a:pt x="6733286" y="12700"/>
                  </a:lnTo>
                  <a:lnTo>
                    <a:pt x="6733286" y="0"/>
                  </a:lnTo>
                  <a:cubicBezTo>
                    <a:pt x="6835902" y="0"/>
                    <a:pt x="6919087" y="83058"/>
                    <a:pt x="6919087" y="185547"/>
                  </a:cubicBezTo>
                  <a:lnTo>
                    <a:pt x="6906387" y="185547"/>
                  </a:lnTo>
                  <a:lnTo>
                    <a:pt x="6919087" y="185547"/>
                  </a:lnTo>
                  <a:lnTo>
                    <a:pt x="6919087" y="4494276"/>
                  </a:lnTo>
                  <a:lnTo>
                    <a:pt x="6906387" y="4494276"/>
                  </a:lnTo>
                  <a:lnTo>
                    <a:pt x="6919087" y="4494276"/>
                  </a:lnTo>
                  <a:cubicBezTo>
                    <a:pt x="6919087" y="4596765"/>
                    <a:pt x="6835902" y="4679823"/>
                    <a:pt x="6733286" y="4679823"/>
                  </a:cubicBezTo>
                  <a:lnTo>
                    <a:pt x="6733286" y="4667123"/>
                  </a:lnTo>
                  <a:lnTo>
                    <a:pt x="6733286" y="4679823"/>
                  </a:lnTo>
                  <a:lnTo>
                    <a:pt x="185801" y="4679823"/>
                  </a:lnTo>
                  <a:lnTo>
                    <a:pt x="185801" y="4667123"/>
                  </a:lnTo>
                  <a:lnTo>
                    <a:pt x="185801" y="4679823"/>
                  </a:lnTo>
                  <a:cubicBezTo>
                    <a:pt x="83185" y="4679696"/>
                    <a:pt x="0" y="4596765"/>
                    <a:pt x="0" y="4494276"/>
                  </a:cubicBezTo>
                  <a:lnTo>
                    <a:pt x="0" y="185547"/>
                  </a:lnTo>
                  <a:lnTo>
                    <a:pt x="12700" y="185547"/>
                  </a:lnTo>
                  <a:lnTo>
                    <a:pt x="0" y="185547"/>
                  </a:lnTo>
                  <a:moveTo>
                    <a:pt x="25400" y="185547"/>
                  </a:moveTo>
                  <a:lnTo>
                    <a:pt x="25400" y="4494276"/>
                  </a:lnTo>
                  <a:lnTo>
                    <a:pt x="12700" y="4494276"/>
                  </a:lnTo>
                  <a:lnTo>
                    <a:pt x="25400" y="4494276"/>
                  </a:lnTo>
                  <a:cubicBezTo>
                    <a:pt x="25400" y="4582668"/>
                    <a:pt x="97155" y="4654423"/>
                    <a:pt x="185801" y="4654423"/>
                  </a:cubicBezTo>
                  <a:lnTo>
                    <a:pt x="6733286" y="4654423"/>
                  </a:lnTo>
                  <a:cubicBezTo>
                    <a:pt x="6821932" y="4654423"/>
                    <a:pt x="6893687" y="4582668"/>
                    <a:pt x="6893687" y="4494276"/>
                  </a:cubicBezTo>
                  <a:lnTo>
                    <a:pt x="6893687" y="185547"/>
                  </a:lnTo>
                  <a:cubicBezTo>
                    <a:pt x="6893687" y="97155"/>
                    <a:pt x="6821932" y="25400"/>
                    <a:pt x="6733286" y="25400"/>
                  </a:cubicBezTo>
                  <a:lnTo>
                    <a:pt x="185801" y="25400"/>
                  </a:lnTo>
                  <a:lnTo>
                    <a:pt x="185801" y="12700"/>
                  </a:lnTo>
                  <a:lnTo>
                    <a:pt x="185801" y="25400"/>
                  </a:lnTo>
                  <a:cubicBezTo>
                    <a:pt x="97155" y="25400"/>
                    <a:pt x="25400" y="97155"/>
                    <a:pt x="25400" y="185547"/>
                  </a:cubicBezTo>
                  <a:close/>
                </a:path>
              </a:pathLst>
            </a:custGeom>
            <a:solidFill>
              <a:srgbClr val="6D456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886423" y="4462910"/>
            <a:ext cx="925716" cy="925716"/>
            <a:chOff x="0" y="0"/>
            <a:chExt cx="1234288" cy="12342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34313" cy="1234313"/>
            </a:xfrm>
            <a:custGeom>
              <a:avLst/>
              <a:gdLst/>
              <a:ahLst/>
              <a:cxnLst/>
              <a:rect r="r" b="b" t="t" l="l"/>
              <a:pathLst>
                <a:path h="1234313" w="1234313">
                  <a:moveTo>
                    <a:pt x="0" y="617093"/>
                  </a:moveTo>
                  <a:cubicBezTo>
                    <a:pt x="0" y="276352"/>
                    <a:pt x="276352" y="0"/>
                    <a:pt x="617093" y="0"/>
                  </a:cubicBezTo>
                  <a:cubicBezTo>
                    <a:pt x="957834" y="0"/>
                    <a:pt x="1234313" y="276352"/>
                    <a:pt x="1234313" y="617093"/>
                  </a:cubicBezTo>
                  <a:cubicBezTo>
                    <a:pt x="1234313" y="957834"/>
                    <a:pt x="957961" y="1234313"/>
                    <a:pt x="617093" y="1234313"/>
                  </a:cubicBezTo>
                  <a:cubicBezTo>
                    <a:pt x="276225" y="1234313"/>
                    <a:pt x="0" y="957961"/>
                    <a:pt x="0" y="617093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7140921" y="4717409"/>
            <a:ext cx="416566" cy="416566"/>
          </a:xfrm>
          <a:custGeom>
            <a:avLst/>
            <a:gdLst/>
            <a:ahLst/>
            <a:cxnLst/>
            <a:rect r="r" b="b" t="t" l="l"/>
            <a:pathLst>
              <a:path h="416566" w="416566">
                <a:moveTo>
                  <a:pt x="0" y="0"/>
                </a:moveTo>
                <a:lnTo>
                  <a:pt x="416566" y="0"/>
                </a:lnTo>
                <a:lnTo>
                  <a:pt x="416566" y="416566"/>
                </a:lnTo>
                <a:lnTo>
                  <a:pt x="0" y="416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272" t="0" r="-2272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886423" y="5687616"/>
            <a:ext cx="34290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Most Discounted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86423" y="6215653"/>
            <a:ext cx="4515145" cy="108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Hat (50%), Sneakers (49.66%), Coat (49.07%)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028141" y="4125811"/>
            <a:ext cx="5189334" cy="3509810"/>
            <a:chOff x="0" y="0"/>
            <a:chExt cx="6919112" cy="467974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2700" y="12700"/>
              <a:ext cx="6893687" cy="4654423"/>
            </a:xfrm>
            <a:custGeom>
              <a:avLst/>
              <a:gdLst/>
              <a:ahLst/>
              <a:cxnLst/>
              <a:rect r="r" b="b" t="t" l="l"/>
              <a:pathLst>
                <a:path h="4654423" w="6893687">
                  <a:moveTo>
                    <a:pt x="0" y="172847"/>
                  </a:moveTo>
                  <a:cubicBezTo>
                    <a:pt x="0" y="77343"/>
                    <a:pt x="77470" y="0"/>
                    <a:pt x="173101" y="0"/>
                  </a:cubicBezTo>
                  <a:lnTo>
                    <a:pt x="6720586" y="0"/>
                  </a:lnTo>
                  <a:cubicBezTo>
                    <a:pt x="6816217" y="0"/>
                    <a:pt x="6893687" y="77343"/>
                    <a:pt x="6893687" y="172847"/>
                  </a:cubicBezTo>
                  <a:lnTo>
                    <a:pt x="6893687" y="4481576"/>
                  </a:lnTo>
                  <a:cubicBezTo>
                    <a:pt x="6893687" y="4577080"/>
                    <a:pt x="6816217" y="4654423"/>
                    <a:pt x="6720586" y="4654423"/>
                  </a:cubicBezTo>
                  <a:lnTo>
                    <a:pt x="173101" y="4654423"/>
                  </a:lnTo>
                  <a:cubicBezTo>
                    <a:pt x="77470" y="4654296"/>
                    <a:pt x="0" y="4576953"/>
                    <a:pt x="0" y="4481576"/>
                  </a:cubicBezTo>
                  <a:close/>
                </a:path>
              </a:pathLst>
            </a:custGeom>
            <a:solidFill>
              <a:srgbClr val="542C49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919087" cy="4679823"/>
            </a:xfrm>
            <a:custGeom>
              <a:avLst/>
              <a:gdLst/>
              <a:ahLst/>
              <a:cxnLst/>
              <a:rect r="r" b="b" t="t" l="l"/>
              <a:pathLst>
                <a:path h="4679823" w="6919087">
                  <a:moveTo>
                    <a:pt x="0" y="185547"/>
                  </a:moveTo>
                  <a:cubicBezTo>
                    <a:pt x="0" y="83058"/>
                    <a:pt x="83185" y="0"/>
                    <a:pt x="185801" y="0"/>
                  </a:cubicBezTo>
                  <a:lnTo>
                    <a:pt x="6733286" y="0"/>
                  </a:lnTo>
                  <a:lnTo>
                    <a:pt x="6733286" y="12700"/>
                  </a:lnTo>
                  <a:lnTo>
                    <a:pt x="6733286" y="0"/>
                  </a:lnTo>
                  <a:cubicBezTo>
                    <a:pt x="6835902" y="0"/>
                    <a:pt x="6919087" y="83058"/>
                    <a:pt x="6919087" y="185547"/>
                  </a:cubicBezTo>
                  <a:lnTo>
                    <a:pt x="6906387" y="185547"/>
                  </a:lnTo>
                  <a:lnTo>
                    <a:pt x="6919087" y="185547"/>
                  </a:lnTo>
                  <a:lnTo>
                    <a:pt x="6919087" y="4494276"/>
                  </a:lnTo>
                  <a:lnTo>
                    <a:pt x="6906387" y="4494276"/>
                  </a:lnTo>
                  <a:lnTo>
                    <a:pt x="6919087" y="4494276"/>
                  </a:lnTo>
                  <a:cubicBezTo>
                    <a:pt x="6919087" y="4596765"/>
                    <a:pt x="6835902" y="4679823"/>
                    <a:pt x="6733286" y="4679823"/>
                  </a:cubicBezTo>
                  <a:lnTo>
                    <a:pt x="6733286" y="4667123"/>
                  </a:lnTo>
                  <a:lnTo>
                    <a:pt x="6733286" y="4679823"/>
                  </a:lnTo>
                  <a:lnTo>
                    <a:pt x="185801" y="4679823"/>
                  </a:lnTo>
                  <a:lnTo>
                    <a:pt x="185801" y="4667123"/>
                  </a:lnTo>
                  <a:lnTo>
                    <a:pt x="185801" y="4679823"/>
                  </a:lnTo>
                  <a:cubicBezTo>
                    <a:pt x="83185" y="4679696"/>
                    <a:pt x="0" y="4596765"/>
                    <a:pt x="0" y="4494276"/>
                  </a:cubicBezTo>
                  <a:lnTo>
                    <a:pt x="0" y="185547"/>
                  </a:lnTo>
                  <a:lnTo>
                    <a:pt x="12700" y="185547"/>
                  </a:lnTo>
                  <a:lnTo>
                    <a:pt x="0" y="185547"/>
                  </a:lnTo>
                  <a:moveTo>
                    <a:pt x="25400" y="185547"/>
                  </a:moveTo>
                  <a:lnTo>
                    <a:pt x="25400" y="4494276"/>
                  </a:lnTo>
                  <a:lnTo>
                    <a:pt x="12700" y="4494276"/>
                  </a:lnTo>
                  <a:lnTo>
                    <a:pt x="25400" y="4494276"/>
                  </a:lnTo>
                  <a:cubicBezTo>
                    <a:pt x="25400" y="4582668"/>
                    <a:pt x="97155" y="4654423"/>
                    <a:pt x="185801" y="4654423"/>
                  </a:cubicBezTo>
                  <a:lnTo>
                    <a:pt x="6733286" y="4654423"/>
                  </a:lnTo>
                  <a:cubicBezTo>
                    <a:pt x="6821932" y="4654423"/>
                    <a:pt x="6893687" y="4582668"/>
                    <a:pt x="6893687" y="4494276"/>
                  </a:cubicBezTo>
                  <a:lnTo>
                    <a:pt x="6893687" y="185547"/>
                  </a:lnTo>
                  <a:cubicBezTo>
                    <a:pt x="6893687" y="97155"/>
                    <a:pt x="6821932" y="25400"/>
                    <a:pt x="6733286" y="25400"/>
                  </a:cubicBezTo>
                  <a:lnTo>
                    <a:pt x="185801" y="25400"/>
                  </a:lnTo>
                  <a:lnTo>
                    <a:pt x="185801" y="12700"/>
                  </a:lnTo>
                  <a:lnTo>
                    <a:pt x="185801" y="25400"/>
                  </a:lnTo>
                  <a:cubicBezTo>
                    <a:pt x="97155" y="25400"/>
                    <a:pt x="25400" y="97155"/>
                    <a:pt x="25400" y="185547"/>
                  </a:cubicBezTo>
                  <a:close/>
                </a:path>
              </a:pathLst>
            </a:custGeom>
            <a:solidFill>
              <a:srgbClr val="6D456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365241" y="4462910"/>
            <a:ext cx="925716" cy="925716"/>
            <a:chOff x="0" y="0"/>
            <a:chExt cx="1234288" cy="12342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34313" cy="1234313"/>
            </a:xfrm>
            <a:custGeom>
              <a:avLst/>
              <a:gdLst/>
              <a:ahLst/>
              <a:cxnLst/>
              <a:rect r="r" b="b" t="t" l="l"/>
              <a:pathLst>
                <a:path h="1234313" w="1234313">
                  <a:moveTo>
                    <a:pt x="0" y="617093"/>
                  </a:moveTo>
                  <a:cubicBezTo>
                    <a:pt x="0" y="276352"/>
                    <a:pt x="276352" y="0"/>
                    <a:pt x="617093" y="0"/>
                  </a:cubicBezTo>
                  <a:cubicBezTo>
                    <a:pt x="957834" y="0"/>
                    <a:pt x="1234313" y="276352"/>
                    <a:pt x="1234313" y="617093"/>
                  </a:cubicBezTo>
                  <a:cubicBezTo>
                    <a:pt x="1234313" y="957834"/>
                    <a:pt x="957961" y="1234313"/>
                    <a:pt x="617093" y="1234313"/>
                  </a:cubicBezTo>
                  <a:cubicBezTo>
                    <a:pt x="276225" y="1234313"/>
                    <a:pt x="0" y="957961"/>
                    <a:pt x="0" y="617093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</p:grpSp>
      <p:sp>
        <p:nvSpPr>
          <p:cNvPr name="Freeform 28" id="28" descr="preencoded.png"/>
          <p:cNvSpPr/>
          <p:nvPr/>
        </p:nvSpPr>
        <p:spPr>
          <a:xfrm flipH="false" flipV="false" rot="0">
            <a:off x="12619730" y="4717409"/>
            <a:ext cx="416566" cy="416566"/>
          </a:xfrm>
          <a:custGeom>
            <a:avLst/>
            <a:gdLst/>
            <a:ahLst/>
            <a:cxnLst/>
            <a:rect r="r" b="b" t="t" l="l"/>
            <a:pathLst>
              <a:path h="416566" w="416566">
                <a:moveTo>
                  <a:pt x="0" y="0"/>
                </a:moveTo>
                <a:lnTo>
                  <a:pt x="416566" y="0"/>
                </a:lnTo>
                <a:lnTo>
                  <a:pt x="416566" y="416566"/>
                </a:lnTo>
                <a:lnTo>
                  <a:pt x="0" y="4165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4773" r="0" b="-14773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365241" y="5687616"/>
            <a:ext cx="34290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Best Sellers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65241" y="6215653"/>
            <a:ext cx="4515145" cy="108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Blouse, Pants, Jewelry, Sunglasses (171 orders each)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10841" y="769591"/>
            <a:ext cx="10242947" cy="755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0"/>
              </a:lnSpc>
            </a:pPr>
            <a:r>
              <a:rPr lang="en-US" sz="4625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Subscription &amp; Customer Segments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95783" y="3800027"/>
            <a:ext cx="3262017" cy="567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7"/>
              </a:lnSpc>
            </a:pPr>
            <a:r>
              <a:rPr lang="en-US" sz="518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27%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37852" y="2047284"/>
            <a:ext cx="3978173" cy="3978173"/>
            <a:chOff x="0" y="0"/>
            <a:chExt cx="5304231" cy="5304231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5304282" cy="5304282"/>
            </a:xfrm>
            <a:custGeom>
              <a:avLst/>
              <a:gdLst/>
              <a:ahLst/>
              <a:cxnLst/>
              <a:rect r="r" b="b" t="t" l="l"/>
              <a:pathLst>
                <a:path h="5304282" w="5304282">
                  <a:moveTo>
                    <a:pt x="0" y="0"/>
                  </a:moveTo>
                  <a:lnTo>
                    <a:pt x="5304282" y="0"/>
                  </a:lnTo>
                  <a:lnTo>
                    <a:pt x="5304282" y="5304282"/>
                  </a:lnTo>
                  <a:lnTo>
                    <a:pt x="0" y="5304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153545" y="6310017"/>
            <a:ext cx="2946797" cy="37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312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Subscribers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0841" y="6767360"/>
            <a:ext cx="5232197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1,053 customers with subscription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12844" y="3800027"/>
            <a:ext cx="3262017" cy="567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7"/>
              </a:lnSpc>
            </a:pPr>
            <a:r>
              <a:rPr lang="en-US" sz="518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80%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154913" y="2047284"/>
            <a:ext cx="3978173" cy="3978173"/>
            <a:chOff x="0" y="0"/>
            <a:chExt cx="5304231" cy="5304231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5304282" cy="5304282"/>
            </a:xfrm>
            <a:custGeom>
              <a:avLst/>
              <a:gdLst/>
              <a:ahLst/>
              <a:cxnLst/>
              <a:rect r="r" b="b" t="t" l="l"/>
              <a:pathLst>
                <a:path h="5304282" w="5304282">
                  <a:moveTo>
                    <a:pt x="0" y="0"/>
                  </a:moveTo>
                  <a:lnTo>
                    <a:pt x="5304282" y="0"/>
                  </a:lnTo>
                  <a:lnTo>
                    <a:pt x="5304282" y="5304282"/>
                  </a:lnTo>
                  <a:lnTo>
                    <a:pt x="0" y="5304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670597" y="6310017"/>
            <a:ext cx="2946797" cy="37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312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Loyal Customers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27902" y="6767360"/>
            <a:ext cx="5232197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3,116 customers in loyal segment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29905" y="3800027"/>
            <a:ext cx="3262017" cy="567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7"/>
              </a:lnSpc>
            </a:pPr>
            <a:r>
              <a:rPr lang="en-US" sz="518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18%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671974" y="2047284"/>
            <a:ext cx="3978173" cy="3978173"/>
            <a:chOff x="0" y="0"/>
            <a:chExt cx="5304231" cy="5304231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5304282" cy="5304282"/>
            </a:xfrm>
            <a:custGeom>
              <a:avLst/>
              <a:gdLst/>
              <a:ahLst/>
              <a:cxnLst/>
              <a:rect r="r" b="b" t="t" l="l"/>
              <a:pathLst>
                <a:path h="5304282" w="5304282">
                  <a:moveTo>
                    <a:pt x="0" y="0"/>
                  </a:moveTo>
                  <a:lnTo>
                    <a:pt x="5304282" y="0"/>
                  </a:lnTo>
                  <a:lnTo>
                    <a:pt x="5304282" y="5304282"/>
                  </a:lnTo>
                  <a:lnTo>
                    <a:pt x="0" y="5304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3187658" y="6310017"/>
            <a:ext cx="2946797" cy="37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312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Returning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44953" y="6767360"/>
            <a:ext cx="5232197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701 customers making repeat purchases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0841" y="7693523"/>
            <a:ext cx="2946797" cy="37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Revenue by Status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0841" y="8242097"/>
            <a:ext cx="7809605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Non-subscribers: </a:t>
            </a:r>
            <a:r>
              <a:rPr lang="en-US" sz="2062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$170,436</a:t>
            </a: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(2,847 customers)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10841" y="8841581"/>
            <a:ext cx="7809605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Subscribers: </a:t>
            </a:r>
            <a:r>
              <a:rPr lang="en-US" sz="2062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$62,645</a:t>
            </a: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(1,053 customers)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77080" y="7693523"/>
            <a:ext cx="2946797" cy="37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Repeat Buyers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77080" y="8242097"/>
            <a:ext cx="7809605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958 repeat buyers (over 5 purchases) vs. 2,518 single-time buyers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1615526"/>
            <a:ext cx="685800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Age Group Analysis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70524" y="3263208"/>
            <a:ext cx="6850409" cy="404812"/>
            <a:chOff x="0" y="0"/>
            <a:chExt cx="9133878" cy="5397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9108440" cy="514350"/>
            </a:xfrm>
            <a:custGeom>
              <a:avLst/>
              <a:gdLst/>
              <a:ahLst/>
              <a:cxnLst/>
              <a:rect r="r" b="b" t="t" l="l"/>
              <a:pathLst>
                <a:path h="514350" w="9108440">
                  <a:moveTo>
                    <a:pt x="0" y="172847"/>
                  </a:moveTo>
                  <a:cubicBezTo>
                    <a:pt x="0" y="77343"/>
                    <a:pt x="81026" y="0"/>
                    <a:pt x="180848" y="0"/>
                  </a:cubicBezTo>
                  <a:lnTo>
                    <a:pt x="8927592" y="0"/>
                  </a:lnTo>
                  <a:cubicBezTo>
                    <a:pt x="9027414" y="0"/>
                    <a:pt x="9108440" y="77343"/>
                    <a:pt x="9108440" y="172847"/>
                  </a:cubicBezTo>
                  <a:lnTo>
                    <a:pt x="9108440" y="341503"/>
                  </a:lnTo>
                  <a:cubicBezTo>
                    <a:pt x="9108440" y="437007"/>
                    <a:pt x="9027414" y="514350"/>
                    <a:pt x="8927592" y="514350"/>
                  </a:cubicBezTo>
                  <a:lnTo>
                    <a:pt x="180848" y="514350"/>
                  </a:lnTo>
                  <a:cubicBezTo>
                    <a:pt x="81026" y="514350"/>
                    <a:pt x="0" y="437007"/>
                    <a:pt x="0" y="341503"/>
                  </a:cubicBezTo>
                  <a:close/>
                </a:path>
              </a:pathLst>
            </a:custGeom>
            <a:solidFill>
              <a:srgbClr val="542C49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33840" cy="539750"/>
            </a:xfrm>
            <a:custGeom>
              <a:avLst/>
              <a:gdLst/>
              <a:ahLst/>
              <a:cxnLst/>
              <a:rect r="r" b="b" t="t" l="l"/>
              <a:pathLst>
                <a:path h="539750" w="9133840">
                  <a:moveTo>
                    <a:pt x="0" y="185547"/>
                  </a:moveTo>
                  <a:cubicBezTo>
                    <a:pt x="0" y="82550"/>
                    <a:pt x="87249" y="0"/>
                    <a:pt x="193548" y="0"/>
                  </a:cubicBezTo>
                  <a:lnTo>
                    <a:pt x="8940292" y="0"/>
                  </a:lnTo>
                  <a:lnTo>
                    <a:pt x="8940292" y="12700"/>
                  </a:lnTo>
                  <a:lnTo>
                    <a:pt x="8940292" y="0"/>
                  </a:lnTo>
                  <a:cubicBezTo>
                    <a:pt x="9046591" y="0"/>
                    <a:pt x="9133840" y="82550"/>
                    <a:pt x="9133840" y="185547"/>
                  </a:cubicBezTo>
                  <a:lnTo>
                    <a:pt x="9121140" y="185547"/>
                  </a:lnTo>
                  <a:lnTo>
                    <a:pt x="9133840" y="185547"/>
                  </a:lnTo>
                  <a:lnTo>
                    <a:pt x="9133840" y="354203"/>
                  </a:lnTo>
                  <a:lnTo>
                    <a:pt x="9121140" y="354203"/>
                  </a:lnTo>
                  <a:lnTo>
                    <a:pt x="9133840" y="354203"/>
                  </a:lnTo>
                  <a:cubicBezTo>
                    <a:pt x="9133840" y="457200"/>
                    <a:pt x="9046591" y="539750"/>
                    <a:pt x="8940292" y="539750"/>
                  </a:cubicBezTo>
                  <a:lnTo>
                    <a:pt x="8940292" y="527050"/>
                  </a:lnTo>
                  <a:lnTo>
                    <a:pt x="8940292" y="539750"/>
                  </a:lnTo>
                  <a:lnTo>
                    <a:pt x="193548" y="539750"/>
                  </a:lnTo>
                  <a:lnTo>
                    <a:pt x="193548" y="527050"/>
                  </a:lnTo>
                  <a:lnTo>
                    <a:pt x="193548" y="539750"/>
                  </a:lnTo>
                  <a:cubicBezTo>
                    <a:pt x="87249" y="539750"/>
                    <a:pt x="0" y="457200"/>
                    <a:pt x="0" y="354203"/>
                  </a:cubicBezTo>
                  <a:lnTo>
                    <a:pt x="0" y="185547"/>
                  </a:lnTo>
                  <a:lnTo>
                    <a:pt x="12700" y="185547"/>
                  </a:lnTo>
                  <a:lnTo>
                    <a:pt x="0" y="185547"/>
                  </a:lnTo>
                  <a:moveTo>
                    <a:pt x="25400" y="185547"/>
                  </a:moveTo>
                  <a:lnTo>
                    <a:pt x="25400" y="354203"/>
                  </a:lnTo>
                  <a:lnTo>
                    <a:pt x="12700" y="354203"/>
                  </a:lnTo>
                  <a:lnTo>
                    <a:pt x="25400" y="354203"/>
                  </a:lnTo>
                  <a:cubicBezTo>
                    <a:pt x="25400" y="442087"/>
                    <a:pt x="100076" y="514350"/>
                    <a:pt x="193548" y="514350"/>
                  </a:cubicBezTo>
                  <a:lnTo>
                    <a:pt x="8940292" y="514350"/>
                  </a:lnTo>
                  <a:cubicBezTo>
                    <a:pt x="9033764" y="514350"/>
                    <a:pt x="9108440" y="442087"/>
                    <a:pt x="9108440" y="354203"/>
                  </a:cubicBezTo>
                  <a:lnTo>
                    <a:pt x="9108440" y="185547"/>
                  </a:lnTo>
                  <a:cubicBezTo>
                    <a:pt x="9108440" y="97663"/>
                    <a:pt x="9033764" y="25400"/>
                    <a:pt x="8940292" y="25400"/>
                  </a:cubicBezTo>
                  <a:lnTo>
                    <a:pt x="193548" y="25400"/>
                  </a:lnTo>
                  <a:lnTo>
                    <a:pt x="193548" y="12700"/>
                  </a:lnTo>
                  <a:lnTo>
                    <a:pt x="193548" y="25400"/>
                  </a:lnTo>
                  <a:cubicBezTo>
                    <a:pt x="100076" y="25400"/>
                    <a:pt x="25400" y="97663"/>
                    <a:pt x="25400" y="185547"/>
                  </a:cubicBezTo>
                  <a:close/>
                </a:path>
              </a:pathLst>
            </a:custGeom>
            <a:solidFill>
              <a:srgbClr val="6D456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80049" y="3272733"/>
            <a:ext cx="1776117" cy="385762"/>
            <a:chOff x="0" y="0"/>
            <a:chExt cx="2368156" cy="5143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68169" cy="514350"/>
            </a:xfrm>
            <a:custGeom>
              <a:avLst/>
              <a:gdLst/>
              <a:ahLst/>
              <a:cxnLst/>
              <a:rect r="r" b="b" t="t" l="l"/>
              <a:pathLst>
                <a:path h="514350" w="2368169">
                  <a:moveTo>
                    <a:pt x="0" y="172847"/>
                  </a:moveTo>
                  <a:cubicBezTo>
                    <a:pt x="0" y="77343"/>
                    <a:pt x="77343" y="0"/>
                    <a:pt x="172847" y="0"/>
                  </a:cubicBezTo>
                  <a:lnTo>
                    <a:pt x="2195322" y="0"/>
                  </a:lnTo>
                  <a:cubicBezTo>
                    <a:pt x="2290826" y="0"/>
                    <a:pt x="2368169" y="77343"/>
                    <a:pt x="2368169" y="172847"/>
                  </a:cubicBezTo>
                  <a:lnTo>
                    <a:pt x="2368169" y="341503"/>
                  </a:lnTo>
                  <a:cubicBezTo>
                    <a:pt x="2368169" y="437007"/>
                    <a:pt x="2290826" y="514350"/>
                    <a:pt x="2195322" y="514350"/>
                  </a:cubicBezTo>
                  <a:lnTo>
                    <a:pt x="172847" y="514350"/>
                  </a:lnTo>
                  <a:cubicBezTo>
                    <a:pt x="77343" y="514350"/>
                    <a:pt x="0" y="437007"/>
                    <a:pt x="0" y="341503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142837" y="3320358"/>
            <a:ext cx="80828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26%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0049" y="4034580"/>
            <a:ext cx="34290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Young Adult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0049" y="4562627"/>
            <a:ext cx="7871069" cy="589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$62,143 revenue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327356" y="3263208"/>
            <a:ext cx="6866630" cy="404812"/>
            <a:chOff x="0" y="0"/>
            <a:chExt cx="9155506" cy="5397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00" y="12700"/>
              <a:ext cx="9130157" cy="514350"/>
            </a:xfrm>
            <a:custGeom>
              <a:avLst/>
              <a:gdLst/>
              <a:ahLst/>
              <a:cxnLst/>
              <a:rect r="r" b="b" t="t" l="l"/>
              <a:pathLst>
                <a:path h="514350" w="9130157">
                  <a:moveTo>
                    <a:pt x="0" y="172847"/>
                  </a:moveTo>
                  <a:cubicBezTo>
                    <a:pt x="0" y="77343"/>
                    <a:pt x="81026" y="0"/>
                    <a:pt x="180848" y="0"/>
                  </a:cubicBezTo>
                  <a:lnTo>
                    <a:pt x="8949309" y="0"/>
                  </a:lnTo>
                  <a:cubicBezTo>
                    <a:pt x="9049131" y="0"/>
                    <a:pt x="9130157" y="77343"/>
                    <a:pt x="9130157" y="172847"/>
                  </a:cubicBezTo>
                  <a:lnTo>
                    <a:pt x="9130157" y="341503"/>
                  </a:lnTo>
                  <a:cubicBezTo>
                    <a:pt x="9130157" y="437007"/>
                    <a:pt x="9049131" y="514350"/>
                    <a:pt x="8949309" y="514350"/>
                  </a:cubicBezTo>
                  <a:lnTo>
                    <a:pt x="180848" y="514350"/>
                  </a:lnTo>
                  <a:cubicBezTo>
                    <a:pt x="81026" y="514350"/>
                    <a:pt x="0" y="437007"/>
                    <a:pt x="0" y="341503"/>
                  </a:cubicBezTo>
                  <a:close/>
                </a:path>
              </a:pathLst>
            </a:custGeom>
            <a:solidFill>
              <a:srgbClr val="542C49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55557" cy="539750"/>
            </a:xfrm>
            <a:custGeom>
              <a:avLst/>
              <a:gdLst/>
              <a:ahLst/>
              <a:cxnLst/>
              <a:rect r="r" b="b" t="t" l="l"/>
              <a:pathLst>
                <a:path h="539750" w="9155557">
                  <a:moveTo>
                    <a:pt x="0" y="185547"/>
                  </a:moveTo>
                  <a:cubicBezTo>
                    <a:pt x="0" y="82550"/>
                    <a:pt x="87249" y="0"/>
                    <a:pt x="193548" y="0"/>
                  </a:cubicBezTo>
                  <a:lnTo>
                    <a:pt x="8962009" y="0"/>
                  </a:lnTo>
                  <a:lnTo>
                    <a:pt x="8962009" y="12700"/>
                  </a:lnTo>
                  <a:lnTo>
                    <a:pt x="8962009" y="0"/>
                  </a:lnTo>
                  <a:cubicBezTo>
                    <a:pt x="9068308" y="0"/>
                    <a:pt x="9155557" y="82550"/>
                    <a:pt x="9155557" y="185547"/>
                  </a:cubicBezTo>
                  <a:lnTo>
                    <a:pt x="9142857" y="185547"/>
                  </a:lnTo>
                  <a:lnTo>
                    <a:pt x="9155557" y="185547"/>
                  </a:lnTo>
                  <a:lnTo>
                    <a:pt x="9155557" y="354203"/>
                  </a:lnTo>
                  <a:lnTo>
                    <a:pt x="9142857" y="354203"/>
                  </a:lnTo>
                  <a:lnTo>
                    <a:pt x="9155557" y="354203"/>
                  </a:lnTo>
                  <a:cubicBezTo>
                    <a:pt x="9155557" y="457200"/>
                    <a:pt x="9068308" y="539750"/>
                    <a:pt x="8962009" y="539750"/>
                  </a:cubicBezTo>
                  <a:lnTo>
                    <a:pt x="8962009" y="527050"/>
                  </a:lnTo>
                  <a:lnTo>
                    <a:pt x="8962009" y="539750"/>
                  </a:lnTo>
                  <a:lnTo>
                    <a:pt x="193548" y="539750"/>
                  </a:lnTo>
                  <a:lnTo>
                    <a:pt x="193548" y="527050"/>
                  </a:lnTo>
                  <a:lnTo>
                    <a:pt x="193548" y="539750"/>
                  </a:lnTo>
                  <a:cubicBezTo>
                    <a:pt x="87249" y="539750"/>
                    <a:pt x="0" y="457200"/>
                    <a:pt x="0" y="354203"/>
                  </a:cubicBezTo>
                  <a:lnTo>
                    <a:pt x="0" y="185547"/>
                  </a:lnTo>
                  <a:lnTo>
                    <a:pt x="12700" y="185547"/>
                  </a:lnTo>
                  <a:lnTo>
                    <a:pt x="0" y="185547"/>
                  </a:lnTo>
                  <a:moveTo>
                    <a:pt x="25400" y="185547"/>
                  </a:moveTo>
                  <a:lnTo>
                    <a:pt x="25400" y="354203"/>
                  </a:lnTo>
                  <a:lnTo>
                    <a:pt x="12700" y="354203"/>
                  </a:lnTo>
                  <a:lnTo>
                    <a:pt x="25400" y="354203"/>
                  </a:lnTo>
                  <a:cubicBezTo>
                    <a:pt x="25400" y="442087"/>
                    <a:pt x="100076" y="514350"/>
                    <a:pt x="193548" y="514350"/>
                  </a:cubicBezTo>
                  <a:lnTo>
                    <a:pt x="8962009" y="514350"/>
                  </a:lnTo>
                  <a:cubicBezTo>
                    <a:pt x="9055481" y="514350"/>
                    <a:pt x="9130157" y="442087"/>
                    <a:pt x="9130157" y="354203"/>
                  </a:cubicBezTo>
                  <a:lnTo>
                    <a:pt x="9130157" y="185547"/>
                  </a:lnTo>
                  <a:cubicBezTo>
                    <a:pt x="9130157" y="97663"/>
                    <a:pt x="9055354" y="25400"/>
                    <a:pt x="8962009" y="25400"/>
                  </a:cubicBezTo>
                  <a:lnTo>
                    <a:pt x="193548" y="25400"/>
                  </a:lnTo>
                  <a:lnTo>
                    <a:pt x="193548" y="12700"/>
                  </a:lnTo>
                  <a:lnTo>
                    <a:pt x="193548" y="25400"/>
                  </a:lnTo>
                  <a:cubicBezTo>
                    <a:pt x="100076" y="25400"/>
                    <a:pt x="25400" y="97663"/>
                    <a:pt x="25400" y="185547"/>
                  </a:cubicBezTo>
                  <a:close/>
                </a:path>
              </a:pathLst>
            </a:custGeom>
            <a:solidFill>
              <a:srgbClr val="6D456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336881" y="3272733"/>
            <a:ext cx="1711823" cy="385762"/>
            <a:chOff x="0" y="0"/>
            <a:chExt cx="2282431" cy="5143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82444" cy="514350"/>
            </a:xfrm>
            <a:custGeom>
              <a:avLst/>
              <a:gdLst/>
              <a:ahLst/>
              <a:cxnLst/>
              <a:rect r="r" b="b" t="t" l="l"/>
              <a:pathLst>
                <a:path h="514350" w="2282444">
                  <a:moveTo>
                    <a:pt x="0" y="172847"/>
                  </a:moveTo>
                  <a:cubicBezTo>
                    <a:pt x="0" y="77343"/>
                    <a:pt x="77343" y="0"/>
                    <a:pt x="172847" y="0"/>
                  </a:cubicBezTo>
                  <a:lnTo>
                    <a:pt x="2109597" y="0"/>
                  </a:lnTo>
                  <a:cubicBezTo>
                    <a:pt x="2205101" y="0"/>
                    <a:pt x="2282444" y="77343"/>
                    <a:pt x="2282444" y="172847"/>
                  </a:cubicBezTo>
                  <a:lnTo>
                    <a:pt x="2282444" y="341503"/>
                  </a:lnTo>
                  <a:cubicBezTo>
                    <a:pt x="2282444" y="437007"/>
                    <a:pt x="2205101" y="514350"/>
                    <a:pt x="2109597" y="514350"/>
                  </a:cubicBezTo>
                  <a:lnTo>
                    <a:pt x="172847" y="514350"/>
                  </a:lnTo>
                  <a:cubicBezTo>
                    <a:pt x="77343" y="514350"/>
                    <a:pt x="0" y="437007"/>
                    <a:pt x="0" y="341503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6415890" y="3320358"/>
            <a:ext cx="792061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25%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36881" y="4034580"/>
            <a:ext cx="34290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Middle-aged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36881" y="4562627"/>
            <a:ext cx="7871069" cy="589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$59,197 revenue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70524" y="5913539"/>
            <a:ext cx="6854276" cy="404812"/>
            <a:chOff x="0" y="0"/>
            <a:chExt cx="9139034" cy="5397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2700" y="12700"/>
              <a:ext cx="9113647" cy="514350"/>
            </a:xfrm>
            <a:custGeom>
              <a:avLst/>
              <a:gdLst/>
              <a:ahLst/>
              <a:cxnLst/>
              <a:rect r="r" b="b" t="t" l="l"/>
              <a:pathLst>
                <a:path h="514350" w="9113647">
                  <a:moveTo>
                    <a:pt x="0" y="172847"/>
                  </a:moveTo>
                  <a:cubicBezTo>
                    <a:pt x="0" y="77343"/>
                    <a:pt x="81026" y="0"/>
                    <a:pt x="180848" y="0"/>
                  </a:cubicBezTo>
                  <a:lnTo>
                    <a:pt x="8932799" y="0"/>
                  </a:lnTo>
                  <a:cubicBezTo>
                    <a:pt x="9032621" y="0"/>
                    <a:pt x="9113647" y="77343"/>
                    <a:pt x="9113647" y="172847"/>
                  </a:cubicBezTo>
                  <a:lnTo>
                    <a:pt x="9113647" y="341503"/>
                  </a:lnTo>
                  <a:cubicBezTo>
                    <a:pt x="9113647" y="437007"/>
                    <a:pt x="9032621" y="514350"/>
                    <a:pt x="8932799" y="514350"/>
                  </a:cubicBezTo>
                  <a:lnTo>
                    <a:pt x="180848" y="514350"/>
                  </a:lnTo>
                  <a:cubicBezTo>
                    <a:pt x="81026" y="514350"/>
                    <a:pt x="0" y="437007"/>
                    <a:pt x="0" y="341503"/>
                  </a:cubicBezTo>
                  <a:close/>
                </a:path>
              </a:pathLst>
            </a:custGeom>
            <a:solidFill>
              <a:srgbClr val="542C49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39047" cy="539750"/>
            </a:xfrm>
            <a:custGeom>
              <a:avLst/>
              <a:gdLst/>
              <a:ahLst/>
              <a:cxnLst/>
              <a:rect r="r" b="b" t="t" l="l"/>
              <a:pathLst>
                <a:path h="539750" w="9139047">
                  <a:moveTo>
                    <a:pt x="0" y="185547"/>
                  </a:moveTo>
                  <a:cubicBezTo>
                    <a:pt x="0" y="82550"/>
                    <a:pt x="87249" y="0"/>
                    <a:pt x="193548" y="0"/>
                  </a:cubicBezTo>
                  <a:lnTo>
                    <a:pt x="8945499" y="0"/>
                  </a:lnTo>
                  <a:lnTo>
                    <a:pt x="8945499" y="12700"/>
                  </a:lnTo>
                  <a:lnTo>
                    <a:pt x="8945499" y="0"/>
                  </a:lnTo>
                  <a:cubicBezTo>
                    <a:pt x="9051798" y="0"/>
                    <a:pt x="9139047" y="82550"/>
                    <a:pt x="9139047" y="185547"/>
                  </a:cubicBezTo>
                  <a:lnTo>
                    <a:pt x="9126347" y="185547"/>
                  </a:lnTo>
                  <a:lnTo>
                    <a:pt x="9139047" y="185547"/>
                  </a:lnTo>
                  <a:lnTo>
                    <a:pt x="9139047" y="354203"/>
                  </a:lnTo>
                  <a:lnTo>
                    <a:pt x="9126347" y="354203"/>
                  </a:lnTo>
                  <a:lnTo>
                    <a:pt x="9139047" y="354203"/>
                  </a:lnTo>
                  <a:cubicBezTo>
                    <a:pt x="9139047" y="457200"/>
                    <a:pt x="9051798" y="539750"/>
                    <a:pt x="8945499" y="539750"/>
                  </a:cubicBezTo>
                  <a:lnTo>
                    <a:pt x="8945499" y="527050"/>
                  </a:lnTo>
                  <a:lnTo>
                    <a:pt x="8945499" y="539750"/>
                  </a:lnTo>
                  <a:lnTo>
                    <a:pt x="193548" y="539750"/>
                  </a:lnTo>
                  <a:lnTo>
                    <a:pt x="193548" y="527050"/>
                  </a:lnTo>
                  <a:lnTo>
                    <a:pt x="193548" y="539750"/>
                  </a:lnTo>
                  <a:cubicBezTo>
                    <a:pt x="87249" y="539750"/>
                    <a:pt x="0" y="457200"/>
                    <a:pt x="0" y="354203"/>
                  </a:cubicBezTo>
                  <a:lnTo>
                    <a:pt x="0" y="185547"/>
                  </a:lnTo>
                  <a:lnTo>
                    <a:pt x="12700" y="185547"/>
                  </a:lnTo>
                  <a:lnTo>
                    <a:pt x="0" y="185547"/>
                  </a:lnTo>
                  <a:moveTo>
                    <a:pt x="25400" y="185547"/>
                  </a:moveTo>
                  <a:lnTo>
                    <a:pt x="25400" y="354203"/>
                  </a:lnTo>
                  <a:lnTo>
                    <a:pt x="12700" y="354203"/>
                  </a:lnTo>
                  <a:lnTo>
                    <a:pt x="25400" y="354203"/>
                  </a:lnTo>
                  <a:cubicBezTo>
                    <a:pt x="25400" y="442087"/>
                    <a:pt x="100076" y="514350"/>
                    <a:pt x="193548" y="514350"/>
                  </a:cubicBezTo>
                  <a:lnTo>
                    <a:pt x="8945499" y="514350"/>
                  </a:lnTo>
                  <a:cubicBezTo>
                    <a:pt x="9038971" y="514350"/>
                    <a:pt x="9113647" y="442087"/>
                    <a:pt x="9113647" y="354203"/>
                  </a:cubicBezTo>
                  <a:lnTo>
                    <a:pt x="9113647" y="185547"/>
                  </a:lnTo>
                  <a:cubicBezTo>
                    <a:pt x="9113647" y="97663"/>
                    <a:pt x="9038844" y="25400"/>
                    <a:pt x="8945499" y="25400"/>
                  </a:cubicBezTo>
                  <a:lnTo>
                    <a:pt x="193548" y="25400"/>
                  </a:lnTo>
                  <a:lnTo>
                    <a:pt x="193548" y="12700"/>
                  </a:lnTo>
                  <a:lnTo>
                    <a:pt x="193548" y="25400"/>
                  </a:lnTo>
                  <a:cubicBezTo>
                    <a:pt x="100076" y="25400"/>
                    <a:pt x="25400" y="97663"/>
                    <a:pt x="25400" y="185547"/>
                  </a:cubicBezTo>
                  <a:close/>
                </a:path>
              </a:pathLst>
            </a:custGeom>
            <a:solidFill>
              <a:srgbClr val="6D456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80049" y="5923064"/>
            <a:ext cx="1640386" cy="385762"/>
            <a:chOff x="0" y="0"/>
            <a:chExt cx="2187181" cy="5143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87194" cy="514350"/>
            </a:xfrm>
            <a:custGeom>
              <a:avLst/>
              <a:gdLst/>
              <a:ahLst/>
              <a:cxnLst/>
              <a:rect r="r" b="b" t="t" l="l"/>
              <a:pathLst>
                <a:path h="514350" w="2187194">
                  <a:moveTo>
                    <a:pt x="0" y="172847"/>
                  </a:moveTo>
                  <a:cubicBezTo>
                    <a:pt x="0" y="77343"/>
                    <a:pt x="77343" y="0"/>
                    <a:pt x="172847" y="0"/>
                  </a:cubicBezTo>
                  <a:lnTo>
                    <a:pt x="2014347" y="0"/>
                  </a:lnTo>
                  <a:cubicBezTo>
                    <a:pt x="2109851" y="0"/>
                    <a:pt x="2187194" y="77343"/>
                    <a:pt x="2187194" y="172847"/>
                  </a:cubicBezTo>
                  <a:lnTo>
                    <a:pt x="2187194" y="341503"/>
                  </a:lnTo>
                  <a:cubicBezTo>
                    <a:pt x="2187194" y="437007"/>
                    <a:pt x="2109851" y="514350"/>
                    <a:pt x="2014347" y="514350"/>
                  </a:cubicBezTo>
                  <a:lnTo>
                    <a:pt x="172847" y="514350"/>
                  </a:lnTo>
                  <a:cubicBezTo>
                    <a:pt x="77343" y="514350"/>
                    <a:pt x="0" y="437007"/>
                    <a:pt x="0" y="341503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8146704" y="5970689"/>
            <a:ext cx="804415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24%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80049" y="6684912"/>
            <a:ext cx="34290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Adult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80049" y="7212959"/>
            <a:ext cx="7871069" cy="589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$55,978 revenue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327356" y="5913539"/>
            <a:ext cx="6854276" cy="404812"/>
            <a:chOff x="0" y="0"/>
            <a:chExt cx="9139034" cy="5397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2700" y="12700"/>
              <a:ext cx="9113647" cy="514350"/>
            </a:xfrm>
            <a:custGeom>
              <a:avLst/>
              <a:gdLst/>
              <a:ahLst/>
              <a:cxnLst/>
              <a:rect r="r" b="b" t="t" l="l"/>
              <a:pathLst>
                <a:path h="514350" w="9113647">
                  <a:moveTo>
                    <a:pt x="0" y="172847"/>
                  </a:moveTo>
                  <a:cubicBezTo>
                    <a:pt x="0" y="77343"/>
                    <a:pt x="81026" y="0"/>
                    <a:pt x="180848" y="0"/>
                  </a:cubicBezTo>
                  <a:lnTo>
                    <a:pt x="8932799" y="0"/>
                  </a:lnTo>
                  <a:cubicBezTo>
                    <a:pt x="9032621" y="0"/>
                    <a:pt x="9113647" y="77343"/>
                    <a:pt x="9113647" y="172847"/>
                  </a:cubicBezTo>
                  <a:lnTo>
                    <a:pt x="9113647" y="341503"/>
                  </a:lnTo>
                  <a:cubicBezTo>
                    <a:pt x="9113647" y="437007"/>
                    <a:pt x="9032621" y="514350"/>
                    <a:pt x="8932799" y="514350"/>
                  </a:cubicBezTo>
                  <a:lnTo>
                    <a:pt x="180848" y="514350"/>
                  </a:lnTo>
                  <a:cubicBezTo>
                    <a:pt x="81026" y="514350"/>
                    <a:pt x="0" y="437007"/>
                    <a:pt x="0" y="341503"/>
                  </a:cubicBezTo>
                  <a:close/>
                </a:path>
              </a:pathLst>
            </a:custGeom>
            <a:solidFill>
              <a:srgbClr val="542C49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39047" cy="539750"/>
            </a:xfrm>
            <a:custGeom>
              <a:avLst/>
              <a:gdLst/>
              <a:ahLst/>
              <a:cxnLst/>
              <a:rect r="r" b="b" t="t" l="l"/>
              <a:pathLst>
                <a:path h="539750" w="9139047">
                  <a:moveTo>
                    <a:pt x="0" y="185547"/>
                  </a:moveTo>
                  <a:cubicBezTo>
                    <a:pt x="0" y="82550"/>
                    <a:pt x="87249" y="0"/>
                    <a:pt x="193548" y="0"/>
                  </a:cubicBezTo>
                  <a:lnTo>
                    <a:pt x="8945499" y="0"/>
                  </a:lnTo>
                  <a:lnTo>
                    <a:pt x="8945499" y="12700"/>
                  </a:lnTo>
                  <a:lnTo>
                    <a:pt x="8945499" y="0"/>
                  </a:lnTo>
                  <a:cubicBezTo>
                    <a:pt x="9051798" y="0"/>
                    <a:pt x="9139047" y="82550"/>
                    <a:pt x="9139047" y="185547"/>
                  </a:cubicBezTo>
                  <a:lnTo>
                    <a:pt x="9126347" y="185547"/>
                  </a:lnTo>
                  <a:lnTo>
                    <a:pt x="9139047" y="185547"/>
                  </a:lnTo>
                  <a:lnTo>
                    <a:pt x="9139047" y="354203"/>
                  </a:lnTo>
                  <a:lnTo>
                    <a:pt x="9126347" y="354203"/>
                  </a:lnTo>
                  <a:lnTo>
                    <a:pt x="9139047" y="354203"/>
                  </a:lnTo>
                  <a:cubicBezTo>
                    <a:pt x="9139047" y="457200"/>
                    <a:pt x="9051798" y="539750"/>
                    <a:pt x="8945499" y="539750"/>
                  </a:cubicBezTo>
                  <a:lnTo>
                    <a:pt x="8945499" y="527050"/>
                  </a:lnTo>
                  <a:lnTo>
                    <a:pt x="8945499" y="539750"/>
                  </a:lnTo>
                  <a:lnTo>
                    <a:pt x="193548" y="539750"/>
                  </a:lnTo>
                  <a:lnTo>
                    <a:pt x="193548" y="527050"/>
                  </a:lnTo>
                  <a:lnTo>
                    <a:pt x="193548" y="539750"/>
                  </a:lnTo>
                  <a:cubicBezTo>
                    <a:pt x="87249" y="539750"/>
                    <a:pt x="0" y="457200"/>
                    <a:pt x="0" y="354203"/>
                  </a:cubicBezTo>
                  <a:lnTo>
                    <a:pt x="0" y="185547"/>
                  </a:lnTo>
                  <a:lnTo>
                    <a:pt x="12700" y="185547"/>
                  </a:lnTo>
                  <a:lnTo>
                    <a:pt x="0" y="185547"/>
                  </a:lnTo>
                  <a:moveTo>
                    <a:pt x="25400" y="185547"/>
                  </a:moveTo>
                  <a:lnTo>
                    <a:pt x="25400" y="354203"/>
                  </a:lnTo>
                  <a:lnTo>
                    <a:pt x="12700" y="354203"/>
                  </a:lnTo>
                  <a:lnTo>
                    <a:pt x="25400" y="354203"/>
                  </a:lnTo>
                  <a:cubicBezTo>
                    <a:pt x="25400" y="442087"/>
                    <a:pt x="100076" y="514350"/>
                    <a:pt x="193548" y="514350"/>
                  </a:cubicBezTo>
                  <a:lnTo>
                    <a:pt x="8945499" y="514350"/>
                  </a:lnTo>
                  <a:cubicBezTo>
                    <a:pt x="9038971" y="514350"/>
                    <a:pt x="9113647" y="442087"/>
                    <a:pt x="9113647" y="354203"/>
                  </a:cubicBezTo>
                  <a:lnTo>
                    <a:pt x="9113647" y="185547"/>
                  </a:lnTo>
                  <a:cubicBezTo>
                    <a:pt x="9113647" y="97663"/>
                    <a:pt x="9038844" y="25400"/>
                    <a:pt x="8945499" y="25400"/>
                  </a:cubicBezTo>
                  <a:lnTo>
                    <a:pt x="193548" y="25400"/>
                  </a:lnTo>
                  <a:lnTo>
                    <a:pt x="193548" y="12700"/>
                  </a:lnTo>
                  <a:lnTo>
                    <a:pt x="193548" y="25400"/>
                  </a:lnTo>
                  <a:cubicBezTo>
                    <a:pt x="100076" y="25400"/>
                    <a:pt x="25400" y="97663"/>
                    <a:pt x="25400" y="185547"/>
                  </a:cubicBezTo>
                  <a:close/>
                </a:path>
              </a:pathLst>
            </a:custGeom>
            <a:solidFill>
              <a:srgbClr val="6D4562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336881" y="5923064"/>
            <a:ext cx="1640386" cy="385762"/>
            <a:chOff x="0" y="0"/>
            <a:chExt cx="2187181" cy="5143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87194" cy="514350"/>
            </a:xfrm>
            <a:custGeom>
              <a:avLst/>
              <a:gdLst/>
              <a:ahLst/>
              <a:cxnLst/>
              <a:rect r="r" b="b" t="t" l="l"/>
              <a:pathLst>
                <a:path h="514350" w="2187194">
                  <a:moveTo>
                    <a:pt x="0" y="172847"/>
                  </a:moveTo>
                  <a:cubicBezTo>
                    <a:pt x="0" y="77343"/>
                    <a:pt x="77343" y="0"/>
                    <a:pt x="172847" y="0"/>
                  </a:cubicBezTo>
                  <a:lnTo>
                    <a:pt x="2014347" y="0"/>
                  </a:lnTo>
                  <a:cubicBezTo>
                    <a:pt x="2109851" y="0"/>
                    <a:pt x="2187194" y="77343"/>
                    <a:pt x="2187194" y="172847"/>
                  </a:cubicBezTo>
                  <a:lnTo>
                    <a:pt x="2187194" y="341503"/>
                  </a:lnTo>
                  <a:cubicBezTo>
                    <a:pt x="2187194" y="437007"/>
                    <a:pt x="2109851" y="514350"/>
                    <a:pt x="2014347" y="514350"/>
                  </a:cubicBezTo>
                  <a:lnTo>
                    <a:pt x="172847" y="514350"/>
                  </a:lnTo>
                  <a:cubicBezTo>
                    <a:pt x="77343" y="514350"/>
                    <a:pt x="0" y="437007"/>
                    <a:pt x="0" y="341503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6403536" y="5970689"/>
            <a:ext cx="804415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24%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336881" y="6684912"/>
            <a:ext cx="34290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Senior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336881" y="7212959"/>
            <a:ext cx="7871069" cy="589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$55,763 revenue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80049" y="8053835"/>
            <a:ext cx="16127911" cy="589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Young Adults drive the highest revenue at </a:t>
            </a:r>
            <a:r>
              <a:rPr lang="en-US" sz="2375" b="true">
                <a:solidFill>
                  <a:srgbClr val="A95B95"/>
                </a:solidFill>
                <a:latin typeface="Mukta Bold"/>
                <a:ea typeface="Mukta Bold"/>
                <a:cs typeface="Mukta Bold"/>
                <a:sym typeface="Mukta Bold"/>
              </a:rPr>
              <a:t>$62,143</a:t>
            </a: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, followed by Middle-aged customers at </a:t>
            </a:r>
            <a:r>
              <a:rPr lang="en-US" sz="2375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$59,197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3060649"/>
            <a:ext cx="685800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Power BI Dashboard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60999" y="4390282"/>
            <a:ext cx="5208384" cy="2826544"/>
            <a:chOff x="0" y="0"/>
            <a:chExt cx="6944512" cy="37687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6893687" cy="3717925"/>
            </a:xfrm>
            <a:custGeom>
              <a:avLst/>
              <a:gdLst/>
              <a:ahLst/>
              <a:cxnLst/>
              <a:rect r="r" b="b" t="t" l="l"/>
              <a:pathLst>
                <a:path h="3717925" w="6893687">
                  <a:moveTo>
                    <a:pt x="0" y="172847"/>
                  </a:moveTo>
                  <a:cubicBezTo>
                    <a:pt x="0" y="77343"/>
                    <a:pt x="77851" y="0"/>
                    <a:pt x="173863" y="0"/>
                  </a:cubicBezTo>
                  <a:lnTo>
                    <a:pt x="6719824" y="0"/>
                  </a:lnTo>
                  <a:cubicBezTo>
                    <a:pt x="6815836" y="0"/>
                    <a:pt x="6893687" y="77343"/>
                    <a:pt x="6893687" y="172847"/>
                  </a:cubicBezTo>
                  <a:lnTo>
                    <a:pt x="6893687" y="3545078"/>
                  </a:lnTo>
                  <a:cubicBezTo>
                    <a:pt x="6893687" y="3640455"/>
                    <a:pt x="6815836" y="3717925"/>
                    <a:pt x="6719824" y="3717925"/>
                  </a:cubicBezTo>
                  <a:lnTo>
                    <a:pt x="173863" y="3717925"/>
                  </a:lnTo>
                  <a:cubicBezTo>
                    <a:pt x="77851" y="3717925"/>
                    <a:pt x="0" y="3640582"/>
                    <a:pt x="0" y="3545078"/>
                  </a:cubicBez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44487" cy="3768725"/>
            </a:xfrm>
            <a:custGeom>
              <a:avLst/>
              <a:gdLst/>
              <a:ahLst/>
              <a:cxnLst/>
              <a:rect r="r" b="b" t="t" l="l"/>
              <a:pathLst>
                <a:path h="3768725" w="6944487">
                  <a:moveTo>
                    <a:pt x="0" y="198247"/>
                  </a:moveTo>
                  <a:cubicBezTo>
                    <a:pt x="0" y="88646"/>
                    <a:pt x="89408" y="0"/>
                    <a:pt x="199263" y="0"/>
                  </a:cubicBezTo>
                  <a:lnTo>
                    <a:pt x="6745224" y="0"/>
                  </a:lnTo>
                  <a:lnTo>
                    <a:pt x="6745224" y="25400"/>
                  </a:lnTo>
                  <a:lnTo>
                    <a:pt x="6745224" y="0"/>
                  </a:lnTo>
                  <a:cubicBezTo>
                    <a:pt x="6855079" y="0"/>
                    <a:pt x="6944487" y="88646"/>
                    <a:pt x="6944487" y="198247"/>
                  </a:cubicBezTo>
                  <a:lnTo>
                    <a:pt x="6919087" y="198247"/>
                  </a:lnTo>
                  <a:lnTo>
                    <a:pt x="6944487" y="198247"/>
                  </a:lnTo>
                  <a:lnTo>
                    <a:pt x="6944487" y="3570478"/>
                  </a:lnTo>
                  <a:lnTo>
                    <a:pt x="6919087" y="3570478"/>
                  </a:lnTo>
                  <a:lnTo>
                    <a:pt x="6944487" y="3570478"/>
                  </a:lnTo>
                  <a:cubicBezTo>
                    <a:pt x="6944487" y="3680079"/>
                    <a:pt x="6855079" y="3768725"/>
                    <a:pt x="6745224" y="3768725"/>
                  </a:cubicBezTo>
                  <a:lnTo>
                    <a:pt x="6745224" y="3743325"/>
                  </a:lnTo>
                  <a:lnTo>
                    <a:pt x="6745224" y="3768725"/>
                  </a:lnTo>
                  <a:lnTo>
                    <a:pt x="199263" y="3768725"/>
                  </a:lnTo>
                  <a:lnTo>
                    <a:pt x="199263" y="3743325"/>
                  </a:lnTo>
                  <a:lnTo>
                    <a:pt x="199263" y="3768725"/>
                  </a:lnTo>
                  <a:cubicBezTo>
                    <a:pt x="89408" y="3768725"/>
                    <a:pt x="0" y="3680079"/>
                    <a:pt x="0" y="3570478"/>
                  </a:cubicBezTo>
                  <a:lnTo>
                    <a:pt x="0" y="198247"/>
                  </a:lnTo>
                  <a:lnTo>
                    <a:pt x="25400" y="198247"/>
                  </a:lnTo>
                  <a:lnTo>
                    <a:pt x="0" y="198247"/>
                  </a:lnTo>
                  <a:moveTo>
                    <a:pt x="50800" y="198247"/>
                  </a:moveTo>
                  <a:lnTo>
                    <a:pt x="50800" y="3570478"/>
                  </a:lnTo>
                  <a:lnTo>
                    <a:pt x="25400" y="3570478"/>
                  </a:lnTo>
                  <a:lnTo>
                    <a:pt x="50800" y="3570478"/>
                  </a:lnTo>
                  <a:cubicBezTo>
                    <a:pt x="50800" y="3651758"/>
                    <a:pt x="117094" y="3717925"/>
                    <a:pt x="199263" y="3717925"/>
                  </a:cubicBezTo>
                  <a:lnTo>
                    <a:pt x="6745224" y="3717925"/>
                  </a:lnTo>
                  <a:cubicBezTo>
                    <a:pt x="6827393" y="3717925"/>
                    <a:pt x="6893687" y="3651758"/>
                    <a:pt x="6893687" y="3570478"/>
                  </a:cubicBezTo>
                  <a:lnTo>
                    <a:pt x="6893687" y="198247"/>
                  </a:lnTo>
                  <a:cubicBezTo>
                    <a:pt x="6893687" y="116967"/>
                    <a:pt x="6827393" y="50800"/>
                    <a:pt x="6745224" y="50800"/>
                  </a:cubicBezTo>
                  <a:lnTo>
                    <a:pt x="199263" y="50800"/>
                  </a:lnTo>
                  <a:lnTo>
                    <a:pt x="199263" y="25400"/>
                  </a:lnTo>
                  <a:lnTo>
                    <a:pt x="199263" y="50800"/>
                  </a:lnTo>
                  <a:cubicBezTo>
                    <a:pt x="117094" y="50800"/>
                    <a:pt x="50800" y="116967"/>
                    <a:pt x="50800" y="198247"/>
                  </a:cubicBezTo>
                  <a:close/>
                </a:path>
              </a:pathLst>
            </a:custGeom>
            <a:solidFill>
              <a:srgbClr val="6D4562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26664" y="4746422"/>
            <a:ext cx="34290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Key KPIs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6664" y="5274469"/>
            <a:ext cx="4477045" cy="108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3,900 customers, $59.76 average purchase, 3.75 average rating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39808" y="4390282"/>
            <a:ext cx="5208384" cy="2826544"/>
            <a:chOff x="0" y="0"/>
            <a:chExt cx="6944512" cy="37687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5400" y="25400"/>
              <a:ext cx="6893687" cy="3717925"/>
            </a:xfrm>
            <a:custGeom>
              <a:avLst/>
              <a:gdLst/>
              <a:ahLst/>
              <a:cxnLst/>
              <a:rect r="r" b="b" t="t" l="l"/>
              <a:pathLst>
                <a:path h="3717925" w="6893687">
                  <a:moveTo>
                    <a:pt x="0" y="172847"/>
                  </a:moveTo>
                  <a:cubicBezTo>
                    <a:pt x="0" y="77343"/>
                    <a:pt x="77851" y="0"/>
                    <a:pt x="173863" y="0"/>
                  </a:cubicBezTo>
                  <a:lnTo>
                    <a:pt x="6719824" y="0"/>
                  </a:lnTo>
                  <a:cubicBezTo>
                    <a:pt x="6815836" y="0"/>
                    <a:pt x="6893687" y="77343"/>
                    <a:pt x="6893687" y="172847"/>
                  </a:cubicBezTo>
                  <a:lnTo>
                    <a:pt x="6893687" y="3545078"/>
                  </a:lnTo>
                  <a:cubicBezTo>
                    <a:pt x="6893687" y="3640455"/>
                    <a:pt x="6815836" y="3717925"/>
                    <a:pt x="6719824" y="3717925"/>
                  </a:cubicBezTo>
                  <a:lnTo>
                    <a:pt x="173863" y="3717925"/>
                  </a:lnTo>
                  <a:cubicBezTo>
                    <a:pt x="77851" y="3717925"/>
                    <a:pt x="0" y="3640582"/>
                    <a:pt x="0" y="3545078"/>
                  </a:cubicBez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44487" cy="3768725"/>
            </a:xfrm>
            <a:custGeom>
              <a:avLst/>
              <a:gdLst/>
              <a:ahLst/>
              <a:cxnLst/>
              <a:rect r="r" b="b" t="t" l="l"/>
              <a:pathLst>
                <a:path h="3768725" w="6944487">
                  <a:moveTo>
                    <a:pt x="0" y="198247"/>
                  </a:moveTo>
                  <a:cubicBezTo>
                    <a:pt x="0" y="88646"/>
                    <a:pt x="89408" y="0"/>
                    <a:pt x="199263" y="0"/>
                  </a:cubicBezTo>
                  <a:lnTo>
                    <a:pt x="6745224" y="0"/>
                  </a:lnTo>
                  <a:lnTo>
                    <a:pt x="6745224" y="25400"/>
                  </a:lnTo>
                  <a:lnTo>
                    <a:pt x="6745224" y="0"/>
                  </a:lnTo>
                  <a:cubicBezTo>
                    <a:pt x="6855079" y="0"/>
                    <a:pt x="6944487" y="88646"/>
                    <a:pt x="6944487" y="198247"/>
                  </a:cubicBezTo>
                  <a:lnTo>
                    <a:pt x="6919087" y="198247"/>
                  </a:lnTo>
                  <a:lnTo>
                    <a:pt x="6944487" y="198247"/>
                  </a:lnTo>
                  <a:lnTo>
                    <a:pt x="6944487" y="3570478"/>
                  </a:lnTo>
                  <a:lnTo>
                    <a:pt x="6919087" y="3570478"/>
                  </a:lnTo>
                  <a:lnTo>
                    <a:pt x="6944487" y="3570478"/>
                  </a:lnTo>
                  <a:cubicBezTo>
                    <a:pt x="6944487" y="3680079"/>
                    <a:pt x="6855079" y="3768725"/>
                    <a:pt x="6745224" y="3768725"/>
                  </a:cubicBezTo>
                  <a:lnTo>
                    <a:pt x="6745224" y="3743325"/>
                  </a:lnTo>
                  <a:lnTo>
                    <a:pt x="6745224" y="3768725"/>
                  </a:lnTo>
                  <a:lnTo>
                    <a:pt x="199263" y="3768725"/>
                  </a:lnTo>
                  <a:lnTo>
                    <a:pt x="199263" y="3743325"/>
                  </a:lnTo>
                  <a:lnTo>
                    <a:pt x="199263" y="3768725"/>
                  </a:lnTo>
                  <a:cubicBezTo>
                    <a:pt x="89408" y="3768725"/>
                    <a:pt x="0" y="3680079"/>
                    <a:pt x="0" y="3570478"/>
                  </a:cubicBezTo>
                  <a:lnTo>
                    <a:pt x="0" y="198247"/>
                  </a:lnTo>
                  <a:lnTo>
                    <a:pt x="25400" y="198247"/>
                  </a:lnTo>
                  <a:lnTo>
                    <a:pt x="0" y="198247"/>
                  </a:lnTo>
                  <a:moveTo>
                    <a:pt x="50800" y="198247"/>
                  </a:moveTo>
                  <a:lnTo>
                    <a:pt x="50800" y="3570478"/>
                  </a:lnTo>
                  <a:lnTo>
                    <a:pt x="25400" y="3570478"/>
                  </a:lnTo>
                  <a:lnTo>
                    <a:pt x="50800" y="3570478"/>
                  </a:lnTo>
                  <a:cubicBezTo>
                    <a:pt x="50800" y="3651758"/>
                    <a:pt x="117094" y="3717925"/>
                    <a:pt x="199263" y="3717925"/>
                  </a:cubicBezTo>
                  <a:lnTo>
                    <a:pt x="6745224" y="3717925"/>
                  </a:lnTo>
                  <a:cubicBezTo>
                    <a:pt x="6827393" y="3717925"/>
                    <a:pt x="6893687" y="3651758"/>
                    <a:pt x="6893687" y="3570478"/>
                  </a:cubicBezTo>
                  <a:lnTo>
                    <a:pt x="6893687" y="198247"/>
                  </a:lnTo>
                  <a:cubicBezTo>
                    <a:pt x="6893687" y="116967"/>
                    <a:pt x="6827393" y="50800"/>
                    <a:pt x="6745224" y="50800"/>
                  </a:cubicBezTo>
                  <a:lnTo>
                    <a:pt x="199263" y="50800"/>
                  </a:lnTo>
                  <a:lnTo>
                    <a:pt x="199263" y="25400"/>
                  </a:lnTo>
                  <a:lnTo>
                    <a:pt x="199263" y="50800"/>
                  </a:lnTo>
                  <a:cubicBezTo>
                    <a:pt x="117094" y="50800"/>
                    <a:pt x="50800" y="116967"/>
                    <a:pt x="50800" y="198247"/>
                  </a:cubicBezTo>
                  <a:close/>
                </a:path>
              </a:pathLst>
            </a:custGeom>
            <a:solidFill>
              <a:srgbClr val="6D4562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905473" y="4746422"/>
            <a:ext cx="34290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Interactive Filters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05473" y="5274469"/>
            <a:ext cx="4477045" cy="108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Subscription status, gender, category, shipping type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018616" y="4390282"/>
            <a:ext cx="5208384" cy="2826544"/>
            <a:chOff x="0" y="0"/>
            <a:chExt cx="6944512" cy="37687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5400" y="25400"/>
              <a:ext cx="6893687" cy="3717925"/>
            </a:xfrm>
            <a:custGeom>
              <a:avLst/>
              <a:gdLst/>
              <a:ahLst/>
              <a:cxnLst/>
              <a:rect r="r" b="b" t="t" l="l"/>
              <a:pathLst>
                <a:path h="3717925" w="6893687">
                  <a:moveTo>
                    <a:pt x="0" y="172847"/>
                  </a:moveTo>
                  <a:cubicBezTo>
                    <a:pt x="0" y="77343"/>
                    <a:pt x="77851" y="0"/>
                    <a:pt x="173863" y="0"/>
                  </a:cubicBezTo>
                  <a:lnTo>
                    <a:pt x="6719824" y="0"/>
                  </a:lnTo>
                  <a:cubicBezTo>
                    <a:pt x="6815836" y="0"/>
                    <a:pt x="6893687" y="77343"/>
                    <a:pt x="6893687" y="172847"/>
                  </a:cubicBezTo>
                  <a:lnTo>
                    <a:pt x="6893687" y="3545078"/>
                  </a:lnTo>
                  <a:cubicBezTo>
                    <a:pt x="6893687" y="3640455"/>
                    <a:pt x="6815836" y="3717925"/>
                    <a:pt x="6719824" y="3717925"/>
                  </a:cubicBezTo>
                  <a:lnTo>
                    <a:pt x="173863" y="3717925"/>
                  </a:lnTo>
                  <a:cubicBezTo>
                    <a:pt x="77851" y="3717925"/>
                    <a:pt x="0" y="3640582"/>
                    <a:pt x="0" y="3545078"/>
                  </a:cubicBez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44487" cy="3768725"/>
            </a:xfrm>
            <a:custGeom>
              <a:avLst/>
              <a:gdLst/>
              <a:ahLst/>
              <a:cxnLst/>
              <a:rect r="r" b="b" t="t" l="l"/>
              <a:pathLst>
                <a:path h="3768725" w="6944487">
                  <a:moveTo>
                    <a:pt x="0" y="198247"/>
                  </a:moveTo>
                  <a:cubicBezTo>
                    <a:pt x="0" y="88646"/>
                    <a:pt x="89408" y="0"/>
                    <a:pt x="199263" y="0"/>
                  </a:cubicBezTo>
                  <a:lnTo>
                    <a:pt x="6745224" y="0"/>
                  </a:lnTo>
                  <a:lnTo>
                    <a:pt x="6745224" y="25400"/>
                  </a:lnTo>
                  <a:lnTo>
                    <a:pt x="6745224" y="0"/>
                  </a:lnTo>
                  <a:cubicBezTo>
                    <a:pt x="6855079" y="0"/>
                    <a:pt x="6944487" y="88646"/>
                    <a:pt x="6944487" y="198247"/>
                  </a:cubicBezTo>
                  <a:lnTo>
                    <a:pt x="6919087" y="198247"/>
                  </a:lnTo>
                  <a:lnTo>
                    <a:pt x="6944487" y="198247"/>
                  </a:lnTo>
                  <a:lnTo>
                    <a:pt x="6944487" y="3570478"/>
                  </a:lnTo>
                  <a:lnTo>
                    <a:pt x="6919087" y="3570478"/>
                  </a:lnTo>
                  <a:lnTo>
                    <a:pt x="6944487" y="3570478"/>
                  </a:lnTo>
                  <a:cubicBezTo>
                    <a:pt x="6944487" y="3680079"/>
                    <a:pt x="6855079" y="3768725"/>
                    <a:pt x="6745224" y="3768725"/>
                  </a:cubicBezTo>
                  <a:lnTo>
                    <a:pt x="6745224" y="3743325"/>
                  </a:lnTo>
                  <a:lnTo>
                    <a:pt x="6745224" y="3768725"/>
                  </a:lnTo>
                  <a:lnTo>
                    <a:pt x="199263" y="3768725"/>
                  </a:lnTo>
                  <a:lnTo>
                    <a:pt x="199263" y="3743325"/>
                  </a:lnTo>
                  <a:lnTo>
                    <a:pt x="199263" y="3768725"/>
                  </a:lnTo>
                  <a:cubicBezTo>
                    <a:pt x="89408" y="3768725"/>
                    <a:pt x="0" y="3680079"/>
                    <a:pt x="0" y="3570478"/>
                  </a:cubicBezTo>
                  <a:lnTo>
                    <a:pt x="0" y="198247"/>
                  </a:lnTo>
                  <a:lnTo>
                    <a:pt x="25400" y="198247"/>
                  </a:lnTo>
                  <a:lnTo>
                    <a:pt x="0" y="198247"/>
                  </a:lnTo>
                  <a:moveTo>
                    <a:pt x="50800" y="198247"/>
                  </a:moveTo>
                  <a:lnTo>
                    <a:pt x="50800" y="3570478"/>
                  </a:lnTo>
                  <a:lnTo>
                    <a:pt x="25400" y="3570478"/>
                  </a:lnTo>
                  <a:lnTo>
                    <a:pt x="50800" y="3570478"/>
                  </a:lnTo>
                  <a:cubicBezTo>
                    <a:pt x="50800" y="3651758"/>
                    <a:pt x="117094" y="3717925"/>
                    <a:pt x="199263" y="3717925"/>
                  </a:cubicBezTo>
                  <a:lnTo>
                    <a:pt x="6745224" y="3717925"/>
                  </a:lnTo>
                  <a:cubicBezTo>
                    <a:pt x="6827393" y="3717925"/>
                    <a:pt x="6893687" y="3651758"/>
                    <a:pt x="6893687" y="3570478"/>
                  </a:cubicBezTo>
                  <a:lnTo>
                    <a:pt x="6893687" y="198247"/>
                  </a:lnTo>
                  <a:cubicBezTo>
                    <a:pt x="6893687" y="116967"/>
                    <a:pt x="6827393" y="50800"/>
                    <a:pt x="6745224" y="50800"/>
                  </a:cubicBezTo>
                  <a:lnTo>
                    <a:pt x="199263" y="50800"/>
                  </a:lnTo>
                  <a:lnTo>
                    <a:pt x="199263" y="25400"/>
                  </a:lnTo>
                  <a:lnTo>
                    <a:pt x="199263" y="50800"/>
                  </a:lnTo>
                  <a:cubicBezTo>
                    <a:pt x="117094" y="50800"/>
                    <a:pt x="50800" y="116967"/>
                    <a:pt x="50800" y="198247"/>
                  </a:cubicBezTo>
                  <a:close/>
                </a:path>
              </a:pathLst>
            </a:custGeom>
            <a:solidFill>
              <a:srgbClr val="6D4562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384291" y="4746422"/>
            <a:ext cx="34290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Visualizations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84291" y="5274469"/>
            <a:ext cx="4477045" cy="157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Donut charts, bar charts showing revenue and sales by category and age group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525468" y="2140896"/>
            <a:ext cx="13236921" cy="7289006"/>
            <a:chOff x="0" y="0"/>
            <a:chExt cx="17649228" cy="9718675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7649189" cy="9718675"/>
            </a:xfrm>
            <a:custGeom>
              <a:avLst/>
              <a:gdLst/>
              <a:ahLst/>
              <a:cxnLst/>
              <a:rect r="r" b="b" t="t" l="l"/>
              <a:pathLst>
                <a:path h="9718675" w="17649189">
                  <a:moveTo>
                    <a:pt x="0" y="0"/>
                  </a:moveTo>
                  <a:lnTo>
                    <a:pt x="17649189" y="0"/>
                  </a:lnTo>
                  <a:lnTo>
                    <a:pt x="17649189" y="9718675"/>
                  </a:lnTo>
                  <a:lnTo>
                    <a:pt x="0" y="97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9" t="0" r="-6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2426941"/>
            <a:ext cx="685800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Key Findings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70524" y="3920433"/>
            <a:ext cx="713337" cy="713337"/>
            <a:chOff x="0" y="0"/>
            <a:chExt cx="951116" cy="9511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925703" cy="925703"/>
            </a:xfrm>
            <a:custGeom>
              <a:avLst/>
              <a:gdLst/>
              <a:ahLst/>
              <a:cxnLst/>
              <a:rect r="r" b="b" t="t" l="l"/>
              <a:pathLst>
                <a:path h="925703" w="925703">
                  <a:moveTo>
                    <a:pt x="0" y="172847"/>
                  </a:moveTo>
                  <a:cubicBezTo>
                    <a:pt x="0" y="77343"/>
                    <a:pt x="77343" y="0"/>
                    <a:pt x="172847" y="0"/>
                  </a:cubicBezTo>
                  <a:lnTo>
                    <a:pt x="752856" y="0"/>
                  </a:lnTo>
                  <a:cubicBezTo>
                    <a:pt x="848360" y="0"/>
                    <a:pt x="925703" y="77343"/>
                    <a:pt x="925703" y="172847"/>
                  </a:cubicBezTo>
                  <a:lnTo>
                    <a:pt x="925703" y="752856"/>
                  </a:lnTo>
                  <a:cubicBezTo>
                    <a:pt x="925703" y="848360"/>
                    <a:pt x="848360" y="925703"/>
                    <a:pt x="752856" y="925703"/>
                  </a:cubicBezTo>
                  <a:lnTo>
                    <a:pt x="172847" y="925703"/>
                  </a:lnTo>
                  <a:cubicBezTo>
                    <a:pt x="77343" y="925703"/>
                    <a:pt x="0" y="848360"/>
                    <a:pt x="0" y="752856"/>
                  </a:cubicBezTo>
                  <a:close/>
                </a:path>
              </a:pathLst>
            </a:custGeom>
            <a:solidFill>
              <a:srgbClr val="542C49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1103" cy="951103"/>
            </a:xfrm>
            <a:custGeom>
              <a:avLst/>
              <a:gdLst/>
              <a:ahLst/>
              <a:cxnLst/>
              <a:rect r="r" b="b" t="t" l="l"/>
              <a:pathLst>
                <a:path h="951103" w="951103">
                  <a:moveTo>
                    <a:pt x="0" y="185547"/>
                  </a:moveTo>
                  <a:cubicBezTo>
                    <a:pt x="0" y="83058"/>
                    <a:pt x="83058" y="0"/>
                    <a:pt x="185547" y="0"/>
                  </a:cubicBezTo>
                  <a:lnTo>
                    <a:pt x="765556" y="0"/>
                  </a:lnTo>
                  <a:lnTo>
                    <a:pt x="765556" y="12700"/>
                  </a:lnTo>
                  <a:lnTo>
                    <a:pt x="765556" y="0"/>
                  </a:lnTo>
                  <a:lnTo>
                    <a:pt x="765556" y="12700"/>
                  </a:lnTo>
                  <a:lnTo>
                    <a:pt x="765556" y="0"/>
                  </a:lnTo>
                  <a:cubicBezTo>
                    <a:pt x="868045" y="0"/>
                    <a:pt x="951103" y="83058"/>
                    <a:pt x="951103" y="185547"/>
                  </a:cubicBezTo>
                  <a:lnTo>
                    <a:pt x="938403" y="185547"/>
                  </a:lnTo>
                  <a:lnTo>
                    <a:pt x="951103" y="185547"/>
                  </a:lnTo>
                  <a:lnTo>
                    <a:pt x="951103" y="765556"/>
                  </a:lnTo>
                  <a:lnTo>
                    <a:pt x="938403" y="765556"/>
                  </a:lnTo>
                  <a:lnTo>
                    <a:pt x="951103" y="765556"/>
                  </a:lnTo>
                  <a:cubicBezTo>
                    <a:pt x="951103" y="868045"/>
                    <a:pt x="868045" y="951103"/>
                    <a:pt x="765556" y="951103"/>
                  </a:cubicBezTo>
                  <a:lnTo>
                    <a:pt x="765556" y="938403"/>
                  </a:lnTo>
                  <a:lnTo>
                    <a:pt x="765556" y="951103"/>
                  </a:lnTo>
                  <a:lnTo>
                    <a:pt x="185547" y="951103"/>
                  </a:lnTo>
                  <a:lnTo>
                    <a:pt x="185547" y="938403"/>
                  </a:lnTo>
                  <a:lnTo>
                    <a:pt x="185547" y="951103"/>
                  </a:lnTo>
                  <a:cubicBezTo>
                    <a:pt x="83058" y="951103"/>
                    <a:pt x="0" y="868045"/>
                    <a:pt x="0" y="765556"/>
                  </a:cubicBezTo>
                  <a:lnTo>
                    <a:pt x="0" y="185547"/>
                  </a:lnTo>
                  <a:lnTo>
                    <a:pt x="12700" y="185547"/>
                  </a:lnTo>
                  <a:lnTo>
                    <a:pt x="0" y="185547"/>
                  </a:lnTo>
                  <a:moveTo>
                    <a:pt x="25400" y="185547"/>
                  </a:moveTo>
                  <a:lnTo>
                    <a:pt x="25400" y="765556"/>
                  </a:lnTo>
                  <a:lnTo>
                    <a:pt x="12700" y="765556"/>
                  </a:lnTo>
                  <a:lnTo>
                    <a:pt x="25400" y="765556"/>
                  </a:lnTo>
                  <a:cubicBezTo>
                    <a:pt x="25400" y="853948"/>
                    <a:pt x="97028" y="925703"/>
                    <a:pt x="185547" y="925703"/>
                  </a:cubicBezTo>
                  <a:lnTo>
                    <a:pt x="765556" y="925703"/>
                  </a:lnTo>
                  <a:cubicBezTo>
                    <a:pt x="853948" y="925703"/>
                    <a:pt x="925703" y="854075"/>
                    <a:pt x="925703" y="765556"/>
                  </a:cubicBezTo>
                  <a:lnTo>
                    <a:pt x="925703" y="185547"/>
                  </a:lnTo>
                  <a:cubicBezTo>
                    <a:pt x="925703" y="97028"/>
                    <a:pt x="854075" y="25400"/>
                    <a:pt x="765556" y="25400"/>
                  </a:cubicBezTo>
                  <a:lnTo>
                    <a:pt x="185547" y="25400"/>
                  </a:lnTo>
                  <a:lnTo>
                    <a:pt x="185547" y="12700"/>
                  </a:lnTo>
                  <a:lnTo>
                    <a:pt x="185547" y="25400"/>
                  </a:lnTo>
                  <a:cubicBezTo>
                    <a:pt x="97028" y="25400"/>
                    <a:pt x="25400" y="97028"/>
                    <a:pt x="25400" y="185547"/>
                  </a:cubicBezTo>
                  <a:close/>
                </a:path>
              </a:pathLst>
            </a:custGeom>
            <a:solidFill>
              <a:srgbClr val="6D4562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082851" y="4026398"/>
            <a:ext cx="686826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Male customers spend 2.1x more than female customers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82851" y="4983061"/>
            <a:ext cx="6868268" cy="589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$157,890 vs. $75,191 in total revenue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327356" y="3920433"/>
            <a:ext cx="713337" cy="713337"/>
            <a:chOff x="0" y="0"/>
            <a:chExt cx="951116" cy="9511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12700"/>
              <a:ext cx="925703" cy="925703"/>
            </a:xfrm>
            <a:custGeom>
              <a:avLst/>
              <a:gdLst/>
              <a:ahLst/>
              <a:cxnLst/>
              <a:rect r="r" b="b" t="t" l="l"/>
              <a:pathLst>
                <a:path h="925703" w="925703">
                  <a:moveTo>
                    <a:pt x="0" y="172847"/>
                  </a:moveTo>
                  <a:cubicBezTo>
                    <a:pt x="0" y="77343"/>
                    <a:pt x="77343" y="0"/>
                    <a:pt x="172847" y="0"/>
                  </a:cubicBezTo>
                  <a:lnTo>
                    <a:pt x="752856" y="0"/>
                  </a:lnTo>
                  <a:cubicBezTo>
                    <a:pt x="848360" y="0"/>
                    <a:pt x="925703" y="77343"/>
                    <a:pt x="925703" y="172847"/>
                  </a:cubicBezTo>
                  <a:lnTo>
                    <a:pt x="925703" y="752856"/>
                  </a:lnTo>
                  <a:cubicBezTo>
                    <a:pt x="925703" y="848360"/>
                    <a:pt x="848360" y="925703"/>
                    <a:pt x="752856" y="925703"/>
                  </a:cubicBezTo>
                  <a:lnTo>
                    <a:pt x="172847" y="925703"/>
                  </a:lnTo>
                  <a:cubicBezTo>
                    <a:pt x="77343" y="925703"/>
                    <a:pt x="0" y="848360"/>
                    <a:pt x="0" y="752856"/>
                  </a:cubicBezTo>
                  <a:close/>
                </a:path>
              </a:pathLst>
            </a:custGeom>
            <a:solidFill>
              <a:srgbClr val="542C49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1103" cy="951103"/>
            </a:xfrm>
            <a:custGeom>
              <a:avLst/>
              <a:gdLst/>
              <a:ahLst/>
              <a:cxnLst/>
              <a:rect r="r" b="b" t="t" l="l"/>
              <a:pathLst>
                <a:path h="951103" w="951103">
                  <a:moveTo>
                    <a:pt x="0" y="185547"/>
                  </a:moveTo>
                  <a:cubicBezTo>
                    <a:pt x="0" y="83058"/>
                    <a:pt x="83058" y="0"/>
                    <a:pt x="185547" y="0"/>
                  </a:cubicBezTo>
                  <a:lnTo>
                    <a:pt x="765556" y="0"/>
                  </a:lnTo>
                  <a:lnTo>
                    <a:pt x="765556" y="12700"/>
                  </a:lnTo>
                  <a:lnTo>
                    <a:pt x="765556" y="0"/>
                  </a:lnTo>
                  <a:lnTo>
                    <a:pt x="765556" y="12700"/>
                  </a:lnTo>
                  <a:lnTo>
                    <a:pt x="765556" y="0"/>
                  </a:lnTo>
                  <a:cubicBezTo>
                    <a:pt x="868045" y="0"/>
                    <a:pt x="951103" y="83058"/>
                    <a:pt x="951103" y="185547"/>
                  </a:cubicBezTo>
                  <a:lnTo>
                    <a:pt x="938403" y="185547"/>
                  </a:lnTo>
                  <a:lnTo>
                    <a:pt x="951103" y="185547"/>
                  </a:lnTo>
                  <a:lnTo>
                    <a:pt x="951103" y="765556"/>
                  </a:lnTo>
                  <a:lnTo>
                    <a:pt x="938403" y="765556"/>
                  </a:lnTo>
                  <a:lnTo>
                    <a:pt x="951103" y="765556"/>
                  </a:lnTo>
                  <a:cubicBezTo>
                    <a:pt x="951103" y="868045"/>
                    <a:pt x="868045" y="951103"/>
                    <a:pt x="765556" y="951103"/>
                  </a:cubicBezTo>
                  <a:lnTo>
                    <a:pt x="765556" y="938403"/>
                  </a:lnTo>
                  <a:lnTo>
                    <a:pt x="765556" y="951103"/>
                  </a:lnTo>
                  <a:lnTo>
                    <a:pt x="185547" y="951103"/>
                  </a:lnTo>
                  <a:lnTo>
                    <a:pt x="185547" y="938403"/>
                  </a:lnTo>
                  <a:lnTo>
                    <a:pt x="185547" y="951103"/>
                  </a:lnTo>
                  <a:cubicBezTo>
                    <a:pt x="83058" y="951103"/>
                    <a:pt x="0" y="868045"/>
                    <a:pt x="0" y="765556"/>
                  </a:cubicBezTo>
                  <a:lnTo>
                    <a:pt x="0" y="185547"/>
                  </a:lnTo>
                  <a:lnTo>
                    <a:pt x="12700" y="185547"/>
                  </a:lnTo>
                  <a:lnTo>
                    <a:pt x="0" y="185547"/>
                  </a:lnTo>
                  <a:moveTo>
                    <a:pt x="25400" y="185547"/>
                  </a:moveTo>
                  <a:lnTo>
                    <a:pt x="25400" y="765556"/>
                  </a:lnTo>
                  <a:lnTo>
                    <a:pt x="12700" y="765556"/>
                  </a:lnTo>
                  <a:lnTo>
                    <a:pt x="25400" y="765556"/>
                  </a:lnTo>
                  <a:cubicBezTo>
                    <a:pt x="25400" y="853948"/>
                    <a:pt x="97028" y="925703"/>
                    <a:pt x="185547" y="925703"/>
                  </a:cubicBezTo>
                  <a:lnTo>
                    <a:pt x="765556" y="925703"/>
                  </a:lnTo>
                  <a:cubicBezTo>
                    <a:pt x="853948" y="925703"/>
                    <a:pt x="925703" y="854075"/>
                    <a:pt x="925703" y="765556"/>
                  </a:cubicBezTo>
                  <a:lnTo>
                    <a:pt x="925703" y="185547"/>
                  </a:lnTo>
                  <a:cubicBezTo>
                    <a:pt x="925703" y="97028"/>
                    <a:pt x="854075" y="25400"/>
                    <a:pt x="765556" y="25400"/>
                  </a:cubicBezTo>
                  <a:lnTo>
                    <a:pt x="185547" y="25400"/>
                  </a:lnTo>
                  <a:lnTo>
                    <a:pt x="185547" y="12700"/>
                  </a:lnTo>
                  <a:lnTo>
                    <a:pt x="185547" y="25400"/>
                  </a:lnTo>
                  <a:cubicBezTo>
                    <a:pt x="97028" y="25400"/>
                    <a:pt x="25400" y="97028"/>
                    <a:pt x="25400" y="185547"/>
                  </a:cubicBezTo>
                  <a:close/>
                </a:path>
              </a:pathLst>
            </a:custGeom>
            <a:solidFill>
              <a:srgbClr val="6D4562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339683" y="4026398"/>
            <a:ext cx="686826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Express shipping customers spend $2 more on average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39683" y="4983061"/>
            <a:ext cx="6868268" cy="589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$60.48 vs. $58.46 for standard shipping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70524" y="6179791"/>
            <a:ext cx="713337" cy="713337"/>
            <a:chOff x="0" y="0"/>
            <a:chExt cx="951116" cy="9511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925703" cy="925703"/>
            </a:xfrm>
            <a:custGeom>
              <a:avLst/>
              <a:gdLst/>
              <a:ahLst/>
              <a:cxnLst/>
              <a:rect r="r" b="b" t="t" l="l"/>
              <a:pathLst>
                <a:path h="925703" w="925703">
                  <a:moveTo>
                    <a:pt x="0" y="172847"/>
                  </a:moveTo>
                  <a:cubicBezTo>
                    <a:pt x="0" y="77343"/>
                    <a:pt x="77343" y="0"/>
                    <a:pt x="172847" y="0"/>
                  </a:cubicBezTo>
                  <a:lnTo>
                    <a:pt x="752856" y="0"/>
                  </a:lnTo>
                  <a:cubicBezTo>
                    <a:pt x="848360" y="0"/>
                    <a:pt x="925703" y="77343"/>
                    <a:pt x="925703" y="172847"/>
                  </a:cubicBezTo>
                  <a:lnTo>
                    <a:pt x="925703" y="752856"/>
                  </a:lnTo>
                  <a:cubicBezTo>
                    <a:pt x="925703" y="848360"/>
                    <a:pt x="848360" y="925703"/>
                    <a:pt x="752856" y="925703"/>
                  </a:cubicBezTo>
                  <a:lnTo>
                    <a:pt x="172847" y="925703"/>
                  </a:lnTo>
                  <a:cubicBezTo>
                    <a:pt x="77343" y="925703"/>
                    <a:pt x="0" y="848360"/>
                    <a:pt x="0" y="752856"/>
                  </a:cubicBezTo>
                  <a:close/>
                </a:path>
              </a:pathLst>
            </a:custGeom>
            <a:solidFill>
              <a:srgbClr val="542C49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1103" cy="951103"/>
            </a:xfrm>
            <a:custGeom>
              <a:avLst/>
              <a:gdLst/>
              <a:ahLst/>
              <a:cxnLst/>
              <a:rect r="r" b="b" t="t" l="l"/>
              <a:pathLst>
                <a:path h="951103" w="951103">
                  <a:moveTo>
                    <a:pt x="0" y="185547"/>
                  </a:moveTo>
                  <a:cubicBezTo>
                    <a:pt x="0" y="83058"/>
                    <a:pt x="83058" y="0"/>
                    <a:pt x="185547" y="0"/>
                  </a:cubicBezTo>
                  <a:lnTo>
                    <a:pt x="765556" y="0"/>
                  </a:lnTo>
                  <a:lnTo>
                    <a:pt x="765556" y="12700"/>
                  </a:lnTo>
                  <a:lnTo>
                    <a:pt x="765556" y="0"/>
                  </a:lnTo>
                  <a:lnTo>
                    <a:pt x="765556" y="12700"/>
                  </a:lnTo>
                  <a:lnTo>
                    <a:pt x="765556" y="0"/>
                  </a:lnTo>
                  <a:cubicBezTo>
                    <a:pt x="868045" y="0"/>
                    <a:pt x="951103" y="83058"/>
                    <a:pt x="951103" y="185547"/>
                  </a:cubicBezTo>
                  <a:lnTo>
                    <a:pt x="938403" y="185547"/>
                  </a:lnTo>
                  <a:lnTo>
                    <a:pt x="951103" y="185547"/>
                  </a:lnTo>
                  <a:lnTo>
                    <a:pt x="951103" y="765556"/>
                  </a:lnTo>
                  <a:lnTo>
                    <a:pt x="938403" y="765556"/>
                  </a:lnTo>
                  <a:lnTo>
                    <a:pt x="951103" y="765556"/>
                  </a:lnTo>
                  <a:cubicBezTo>
                    <a:pt x="951103" y="868045"/>
                    <a:pt x="868045" y="951103"/>
                    <a:pt x="765556" y="951103"/>
                  </a:cubicBezTo>
                  <a:lnTo>
                    <a:pt x="765556" y="938403"/>
                  </a:lnTo>
                  <a:lnTo>
                    <a:pt x="765556" y="951103"/>
                  </a:lnTo>
                  <a:lnTo>
                    <a:pt x="185547" y="951103"/>
                  </a:lnTo>
                  <a:lnTo>
                    <a:pt x="185547" y="938403"/>
                  </a:lnTo>
                  <a:lnTo>
                    <a:pt x="185547" y="951103"/>
                  </a:lnTo>
                  <a:cubicBezTo>
                    <a:pt x="83058" y="951103"/>
                    <a:pt x="0" y="868045"/>
                    <a:pt x="0" y="765556"/>
                  </a:cubicBezTo>
                  <a:lnTo>
                    <a:pt x="0" y="185547"/>
                  </a:lnTo>
                  <a:lnTo>
                    <a:pt x="12700" y="185547"/>
                  </a:lnTo>
                  <a:lnTo>
                    <a:pt x="0" y="185547"/>
                  </a:lnTo>
                  <a:moveTo>
                    <a:pt x="25400" y="185547"/>
                  </a:moveTo>
                  <a:lnTo>
                    <a:pt x="25400" y="765556"/>
                  </a:lnTo>
                  <a:lnTo>
                    <a:pt x="12700" y="765556"/>
                  </a:lnTo>
                  <a:lnTo>
                    <a:pt x="25400" y="765556"/>
                  </a:lnTo>
                  <a:cubicBezTo>
                    <a:pt x="25400" y="853948"/>
                    <a:pt x="97028" y="925703"/>
                    <a:pt x="185547" y="925703"/>
                  </a:cubicBezTo>
                  <a:lnTo>
                    <a:pt x="765556" y="925703"/>
                  </a:lnTo>
                  <a:cubicBezTo>
                    <a:pt x="853948" y="925703"/>
                    <a:pt x="925703" y="854075"/>
                    <a:pt x="925703" y="765556"/>
                  </a:cubicBezTo>
                  <a:lnTo>
                    <a:pt x="925703" y="185547"/>
                  </a:lnTo>
                  <a:cubicBezTo>
                    <a:pt x="925703" y="97028"/>
                    <a:pt x="854075" y="25400"/>
                    <a:pt x="765556" y="25400"/>
                  </a:cubicBezTo>
                  <a:lnTo>
                    <a:pt x="185547" y="25400"/>
                  </a:lnTo>
                  <a:lnTo>
                    <a:pt x="185547" y="12700"/>
                  </a:lnTo>
                  <a:lnTo>
                    <a:pt x="185547" y="25400"/>
                  </a:lnTo>
                  <a:cubicBezTo>
                    <a:pt x="97028" y="25400"/>
                    <a:pt x="25400" y="97028"/>
                    <a:pt x="25400" y="185547"/>
                  </a:cubicBezTo>
                  <a:close/>
                </a:path>
              </a:pathLst>
            </a:custGeom>
            <a:solidFill>
              <a:srgbClr val="6D4562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082851" y="6285757"/>
            <a:ext cx="686826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80% of customers are loyal repeat buyers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82851" y="7242419"/>
            <a:ext cx="6868268" cy="589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3,116 loyal customers out of 3,900 total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327356" y="6179791"/>
            <a:ext cx="713337" cy="713337"/>
            <a:chOff x="0" y="0"/>
            <a:chExt cx="951116" cy="9511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2700" y="12700"/>
              <a:ext cx="925703" cy="925703"/>
            </a:xfrm>
            <a:custGeom>
              <a:avLst/>
              <a:gdLst/>
              <a:ahLst/>
              <a:cxnLst/>
              <a:rect r="r" b="b" t="t" l="l"/>
              <a:pathLst>
                <a:path h="925703" w="925703">
                  <a:moveTo>
                    <a:pt x="0" y="172847"/>
                  </a:moveTo>
                  <a:cubicBezTo>
                    <a:pt x="0" y="77343"/>
                    <a:pt x="77343" y="0"/>
                    <a:pt x="172847" y="0"/>
                  </a:cubicBezTo>
                  <a:lnTo>
                    <a:pt x="752856" y="0"/>
                  </a:lnTo>
                  <a:cubicBezTo>
                    <a:pt x="848360" y="0"/>
                    <a:pt x="925703" y="77343"/>
                    <a:pt x="925703" y="172847"/>
                  </a:cubicBezTo>
                  <a:lnTo>
                    <a:pt x="925703" y="752856"/>
                  </a:lnTo>
                  <a:cubicBezTo>
                    <a:pt x="925703" y="848360"/>
                    <a:pt x="848360" y="925703"/>
                    <a:pt x="752856" y="925703"/>
                  </a:cubicBezTo>
                  <a:lnTo>
                    <a:pt x="172847" y="925703"/>
                  </a:lnTo>
                  <a:cubicBezTo>
                    <a:pt x="77343" y="925703"/>
                    <a:pt x="0" y="848360"/>
                    <a:pt x="0" y="752856"/>
                  </a:cubicBezTo>
                  <a:close/>
                </a:path>
              </a:pathLst>
            </a:custGeom>
            <a:solidFill>
              <a:srgbClr val="542C49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51103" cy="951103"/>
            </a:xfrm>
            <a:custGeom>
              <a:avLst/>
              <a:gdLst/>
              <a:ahLst/>
              <a:cxnLst/>
              <a:rect r="r" b="b" t="t" l="l"/>
              <a:pathLst>
                <a:path h="951103" w="951103">
                  <a:moveTo>
                    <a:pt x="0" y="185547"/>
                  </a:moveTo>
                  <a:cubicBezTo>
                    <a:pt x="0" y="83058"/>
                    <a:pt x="83058" y="0"/>
                    <a:pt x="185547" y="0"/>
                  </a:cubicBezTo>
                  <a:lnTo>
                    <a:pt x="765556" y="0"/>
                  </a:lnTo>
                  <a:lnTo>
                    <a:pt x="765556" y="12700"/>
                  </a:lnTo>
                  <a:lnTo>
                    <a:pt x="765556" y="0"/>
                  </a:lnTo>
                  <a:lnTo>
                    <a:pt x="765556" y="12700"/>
                  </a:lnTo>
                  <a:lnTo>
                    <a:pt x="765556" y="0"/>
                  </a:lnTo>
                  <a:cubicBezTo>
                    <a:pt x="868045" y="0"/>
                    <a:pt x="951103" y="83058"/>
                    <a:pt x="951103" y="185547"/>
                  </a:cubicBezTo>
                  <a:lnTo>
                    <a:pt x="938403" y="185547"/>
                  </a:lnTo>
                  <a:lnTo>
                    <a:pt x="951103" y="185547"/>
                  </a:lnTo>
                  <a:lnTo>
                    <a:pt x="951103" y="765556"/>
                  </a:lnTo>
                  <a:lnTo>
                    <a:pt x="938403" y="765556"/>
                  </a:lnTo>
                  <a:lnTo>
                    <a:pt x="951103" y="765556"/>
                  </a:lnTo>
                  <a:cubicBezTo>
                    <a:pt x="951103" y="868045"/>
                    <a:pt x="868045" y="951103"/>
                    <a:pt x="765556" y="951103"/>
                  </a:cubicBezTo>
                  <a:lnTo>
                    <a:pt x="765556" y="938403"/>
                  </a:lnTo>
                  <a:lnTo>
                    <a:pt x="765556" y="951103"/>
                  </a:lnTo>
                  <a:lnTo>
                    <a:pt x="185547" y="951103"/>
                  </a:lnTo>
                  <a:lnTo>
                    <a:pt x="185547" y="938403"/>
                  </a:lnTo>
                  <a:lnTo>
                    <a:pt x="185547" y="951103"/>
                  </a:lnTo>
                  <a:cubicBezTo>
                    <a:pt x="83058" y="951103"/>
                    <a:pt x="0" y="868045"/>
                    <a:pt x="0" y="765556"/>
                  </a:cubicBezTo>
                  <a:lnTo>
                    <a:pt x="0" y="185547"/>
                  </a:lnTo>
                  <a:lnTo>
                    <a:pt x="12700" y="185547"/>
                  </a:lnTo>
                  <a:lnTo>
                    <a:pt x="0" y="185547"/>
                  </a:lnTo>
                  <a:moveTo>
                    <a:pt x="25400" y="185547"/>
                  </a:moveTo>
                  <a:lnTo>
                    <a:pt x="25400" y="765556"/>
                  </a:lnTo>
                  <a:lnTo>
                    <a:pt x="12700" y="765556"/>
                  </a:lnTo>
                  <a:lnTo>
                    <a:pt x="25400" y="765556"/>
                  </a:lnTo>
                  <a:cubicBezTo>
                    <a:pt x="25400" y="853948"/>
                    <a:pt x="97028" y="925703"/>
                    <a:pt x="185547" y="925703"/>
                  </a:cubicBezTo>
                  <a:lnTo>
                    <a:pt x="765556" y="925703"/>
                  </a:lnTo>
                  <a:cubicBezTo>
                    <a:pt x="853948" y="925703"/>
                    <a:pt x="925703" y="854075"/>
                    <a:pt x="925703" y="765556"/>
                  </a:cubicBezTo>
                  <a:lnTo>
                    <a:pt x="925703" y="185547"/>
                  </a:lnTo>
                  <a:cubicBezTo>
                    <a:pt x="925703" y="97028"/>
                    <a:pt x="854075" y="25400"/>
                    <a:pt x="765556" y="25400"/>
                  </a:cubicBezTo>
                  <a:lnTo>
                    <a:pt x="185547" y="25400"/>
                  </a:lnTo>
                  <a:lnTo>
                    <a:pt x="185547" y="12700"/>
                  </a:lnTo>
                  <a:lnTo>
                    <a:pt x="185547" y="25400"/>
                  </a:lnTo>
                  <a:cubicBezTo>
                    <a:pt x="97028" y="25400"/>
                    <a:pt x="25400" y="97028"/>
                    <a:pt x="25400" y="185547"/>
                  </a:cubicBezTo>
                  <a:close/>
                </a:path>
              </a:pathLst>
            </a:custGeom>
            <a:solidFill>
              <a:srgbClr val="6D4562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0339683" y="6285757"/>
            <a:ext cx="602352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Young adults drive highest revenue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339683" y="6813794"/>
            <a:ext cx="6868268" cy="589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$62,143 from young adult segment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63228" y="841924"/>
            <a:ext cx="9187310" cy="872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312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Strategic Recommendations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58466" y="2307584"/>
            <a:ext cx="7940726" cy="3412036"/>
            <a:chOff x="0" y="0"/>
            <a:chExt cx="10587634" cy="45493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10574909" cy="4536694"/>
            </a:xfrm>
            <a:custGeom>
              <a:avLst/>
              <a:gdLst/>
              <a:ahLst/>
              <a:cxnLst/>
              <a:rect r="r" b="b" t="t" l="l"/>
              <a:pathLst>
                <a:path h="4536694" w="10574909">
                  <a:moveTo>
                    <a:pt x="0" y="170180"/>
                  </a:moveTo>
                  <a:cubicBezTo>
                    <a:pt x="0" y="76200"/>
                    <a:pt x="76327" y="0"/>
                    <a:pt x="170434" y="0"/>
                  </a:cubicBezTo>
                  <a:lnTo>
                    <a:pt x="10404475" y="0"/>
                  </a:lnTo>
                  <a:cubicBezTo>
                    <a:pt x="10498582" y="0"/>
                    <a:pt x="10574909" y="76200"/>
                    <a:pt x="10574909" y="170180"/>
                  </a:cubicBezTo>
                  <a:lnTo>
                    <a:pt x="10574909" y="4366514"/>
                  </a:lnTo>
                  <a:cubicBezTo>
                    <a:pt x="10574909" y="4460494"/>
                    <a:pt x="10498582" y="4536694"/>
                    <a:pt x="10404475" y="4536694"/>
                  </a:cubicBezTo>
                  <a:lnTo>
                    <a:pt x="170434" y="4536694"/>
                  </a:lnTo>
                  <a:cubicBezTo>
                    <a:pt x="76327" y="4536694"/>
                    <a:pt x="0" y="4460494"/>
                    <a:pt x="0" y="4366514"/>
                  </a:cubicBezTo>
                  <a:close/>
                </a:path>
              </a:pathLst>
            </a:custGeom>
            <a:solidFill>
              <a:srgbClr val="542C49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87609" cy="4549394"/>
            </a:xfrm>
            <a:custGeom>
              <a:avLst/>
              <a:gdLst/>
              <a:ahLst/>
              <a:cxnLst/>
              <a:rect r="r" b="b" t="t" l="l"/>
              <a:pathLst>
                <a:path h="4549394" w="10587609">
                  <a:moveTo>
                    <a:pt x="0" y="176530"/>
                  </a:moveTo>
                  <a:cubicBezTo>
                    <a:pt x="0" y="78994"/>
                    <a:pt x="79121" y="0"/>
                    <a:pt x="176784" y="0"/>
                  </a:cubicBezTo>
                  <a:lnTo>
                    <a:pt x="10410825" y="0"/>
                  </a:lnTo>
                  <a:lnTo>
                    <a:pt x="10410825" y="6350"/>
                  </a:lnTo>
                  <a:lnTo>
                    <a:pt x="10410825" y="0"/>
                  </a:lnTo>
                  <a:cubicBezTo>
                    <a:pt x="10508488" y="0"/>
                    <a:pt x="10587609" y="78994"/>
                    <a:pt x="10587609" y="176530"/>
                  </a:cubicBezTo>
                  <a:lnTo>
                    <a:pt x="10581259" y="176530"/>
                  </a:lnTo>
                  <a:lnTo>
                    <a:pt x="10587609" y="176530"/>
                  </a:lnTo>
                  <a:lnTo>
                    <a:pt x="10587609" y="4372864"/>
                  </a:lnTo>
                  <a:lnTo>
                    <a:pt x="10581259" y="4372864"/>
                  </a:lnTo>
                  <a:lnTo>
                    <a:pt x="10587609" y="4372864"/>
                  </a:lnTo>
                  <a:cubicBezTo>
                    <a:pt x="10587609" y="4470400"/>
                    <a:pt x="10508488" y="4549394"/>
                    <a:pt x="10410825" y="4549394"/>
                  </a:cubicBezTo>
                  <a:lnTo>
                    <a:pt x="10410825" y="4543044"/>
                  </a:lnTo>
                  <a:lnTo>
                    <a:pt x="10410825" y="4549394"/>
                  </a:lnTo>
                  <a:lnTo>
                    <a:pt x="176784" y="4549394"/>
                  </a:lnTo>
                  <a:lnTo>
                    <a:pt x="176784" y="4543044"/>
                  </a:lnTo>
                  <a:lnTo>
                    <a:pt x="176784" y="4549394"/>
                  </a:lnTo>
                  <a:cubicBezTo>
                    <a:pt x="79121" y="4549394"/>
                    <a:pt x="0" y="4470400"/>
                    <a:pt x="0" y="4372864"/>
                  </a:cubicBezTo>
                  <a:lnTo>
                    <a:pt x="0" y="176530"/>
                  </a:lnTo>
                  <a:lnTo>
                    <a:pt x="6350" y="176530"/>
                  </a:lnTo>
                  <a:lnTo>
                    <a:pt x="0" y="176530"/>
                  </a:lnTo>
                  <a:moveTo>
                    <a:pt x="12700" y="176530"/>
                  </a:moveTo>
                  <a:lnTo>
                    <a:pt x="12700" y="4372864"/>
                  </a:lnTo>
                  <a:lnTo>
                    <a:pt x="6350" y="4372864"/>
                  </a:lnTo>
                  <a:lnTo>
                    <a:pt x="12700" y="4372864"/>
                  </a:lnTo>
                  <a:cubicBezTo>
                    <a:pt x="12700" y="4463288"/>
                    <a:pt x="86106" y="4536694"/>
                    <a:pt x="176784" y="4536694"/>
                  </a:cubicBezTo>
                  <a:lnTo>
                    <a:pt x="10410825" y="4536694"/>
                  </a:lnTo>
                  <a:cubicBezTo>
                    <a:pt x="10501376" y="4536694"/>
                    <a:pt x="10574909" y="4463415"/>
                    <a:pt x="10574909" y="4372864"/>
                  </a:cubicBezTo>
                  <a:lnTo>
                    <a:pt x="10574909" y="176530"/>
                  </a:lnTo>
                  <a:cubicBezTo>
                    <a:pt x="10574909" y="86106"/>
                    <a:pt x="10501503" y="12700"/>
                    <a:pt x="10410825" y="12700"/>
                  </a:cubicBezTo>
                  <a:lnTo>
                    <a:pt x="176784" y="12700"/>
                  </a:lnTo>
                  <a:lnTo>
                    <a:pt x="176784" y="6350"/>
                  </a:lnTo>
                  <a:lnTo>
                    <a:pt x="176784" y="12700"/>
                  </a:lnTo>
                  <a:cubicBezTo>
                    <a:pt x="86106" y="12700"/>
                    <a:pt x="12700" y="85979"/>
                    <a:pt x="12700" y="176530"/>
                  </a:cubicBezTo>
                  <a:close/>
                </a:path>
              </a:pathLst>
            </a:custGeom>
            <a:solidFill>
              <a:srgbClr val="6D456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76515" y="2625623"/>
            <a:ext cx="911276" cy="911276"/>
            <a:chOff x="0" y="0"/>
            <a:chExt cx="1215034" cy="12150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15009" cy="1215009"/>
            </a:xfrm>
            <a:custGeom>
              <a:avLst/>
              <a:gdLst/>
              <a:ahLst/>
              <a:cxnLst/>
              <a:rect r="r" b="b" t="t" l="l"/>
              <a:pathLst>
                <a:path h="1215009" w="1215009">
                  <a:moveTo>
                    <a:pt x="0" y="607568"/>
                  </a:moveTo>
                  <a:cubicBezTo>
                    <a:pt x="0" y="272034"/>
                    <a:pt x="272034" y="0"/>
                    <a:pt x="607568" y="0"/>
                  </a:cubicBezTo>
                  <a:cubicBezTo>
                    <a:pt x="943102" y="0"/>
                    <a:pt x="1215009" y="272034"/>
                    <a:pt x="1215009" y="607568"/>
                  </a:cubicBezTo>
                  <a:cubicBezTo>
                    <a:pt x="1215009" y="943102"/>
                    <a:pt x="943102" y="1215009"/>
                    <a:pt x="607568" y="1215009"/>
                  </a:cubicBezTo>
                  <a:cubicBezTo>
                    <a:pt x="272034" y="1215009"/>
                    <a:pt x="0" y="943102"/>
                    <a:pt x="0" y="607568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627137" y="2876102"/>
            <a:ext cx="410023" cy="410023"/>
          </a:xfrm>
          <a:custGeom>
            <a:avLst/>
            <a:gdLst/>
            <a:ahLst/>
            <a:cxnLst/>
            <a:rect r="r" b="b" t="t" l="l"/>
            <a:pathLst>
              <a:path h="410023" w="410023">
                <a:moveTo>
                  <a:pt x="0" y="0"/>
                </a:moveTo>
                <a:lnTo>
                  <a:pt x="410022" y="0"/>
                </a:lnTo>
                <a:lnTo>
                  <a:pt x="410022" y="410023"/>
                </a:lnTo>
                <a:lnTo>
                  <a:pt x="0" y="410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135" r="0" b="-1135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76515" y="3816848"/>
            <a:ext cx="3375422" cy="440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Boost Subscriptions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6515" y="4351439"/>
            <a:ext cx="7304637" cy="1050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Promote exclusive benefits to increase subscriber base from current 27%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88666" y="2307584"/>
            <a:ext cx="7940878" cy="3412036"/>
            <a:chOff x="0" y="0"/>
            <a:chExt cx="10587838" cy="45493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10575163" cy="4536694"/>
            </a:xfrm>
            <a:custGeom>
              <a:avLst/>
              <a:gdLst/>
              <a:ahLst/>
              <a:cxnLst/>
              <a:rect r="r" b="b" t="t" l="l"/>
              <a:pathLst>
                <a:path h="4536694" w="10575163">
                  <a:moveTo>
                    <a:pt x="0" y="170180"/>
                  </a:moveTo>
                  <a:cubicBezTo>
                    <a:pt x="0" y="76200"/>
                    <a:pt x="76327" y="0"/>
                    <a:pt x="170434" y="0"/>
                  </a:cubicBezTo>
                  <a:lnTo>
                    <a:pt x="10404729" y="0"/>
                  </a:lnTo>
                  <a:cubicBezTo>
                    <a:pt x="10498836" y="0"/>
                    <a:pt x="10575163" y="76200"/>
                    <a:pt x="10575163" y="170180"/>
                  </a:cubicBezTo>
                  <a:lnTo>
                    <a:pt x="10575163" y="4366514"/>
                  </a:lnTo>
                  <a:cubicBezTo>
                    <a:pt x="10575163" y="4460494"/>
                    <a:pt x="10498836" y="4536694"/>
                    <a:pt x="10404729" y="4536694"/>
                  </a:cubicBezTo>
                  <a:lnTo>
                    <a:pt x="170434" y="4536694"/>
                  </a:lnTo>
                  <a:cubicBezTo>
                    <a:pt x="76327" y="4536694"/>
                    <a:pt x="0" y="4460494"/>
                    <a:pt x="0" y="4366514"/>
                  </a:cubicBezTo>
                  <a:close/>
                </a:path>
              </a:pathLst>
            </a:custGeom>
            <a:solidFill>
              <a:srgbClr val="542C49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587863" cy="4549394"/>
            </a:xfrm>
            <a:custGeom>
              <a:avLst/>
              <a:gdLst/>
              <a:ahLst/>
              <a:cxnLst/>
              <a:rect r="r" b="b" t="t" l="l"/>
              <a:pathLst>
                <a:path h="4549394" w="10587863">
                  <a:moveTo>
                    <a:pt x="0" y="176530"/>
                  </a:moveTo>
                  <a:cubicBezTo>
                    <a:pt x="0" y="78994"/>
                    <a:pt x="79121" y="0"/>
                    <a:pt x="176784" y="0"/>
                  </a:cubicBezTo>
                  <a:lnTo>
                    <a:pt x="10411079" y="0"/>
                  </a:lnTo>
                  <a:lnTo>
                    <a:pt x="10411079" y="6350"/>
                  </a:lnTo>
                  <a:lnTo>
                    <a:pt x="10411079" y="0"/>
                  </a:lnTo>
                  <a:cubicBezTo>
                    <a:pt x="10508742" y="0"/>
                    <a:pt x="10587863" y="78994"/>
                    <a:pt x="10587863" y="176530"/>
                  </a:cubicBezTo>
                  <a:lnTo>
                    <a:pt x="10581513" y="176530"/>
                  </a:lnTo>
                  <a:lnTo>
                    <a:pt x="10587863" y="176530"/>
                  </a:lnTo>
                  <a:lnTo>
                    <a:pt x="10587863" y="4372864"/>
                  </a:lnTo>
                  <a:lnTo>
                    <a:pt x="10581513" y="4372864"/>
                  </a:lnTo>
                  <a:lnTo>
                    <a:pt x="10587863" y="4372864"/>
                  </a:lnTo>
                  <a:cubicBezTo>
                    <a:pt x="10587863" y="4470400"/>
                    <a:pt x="10508742" y="4549394"/>
                    <a:pt x="10411079" y="4549394"/>
                  </a:cubicBezTo>
                  <a:lnTo>
                    <a:pt x="10411079" y="4543044"/>
                  </a:lnTo>
                  <a:lnTo>
                    <a:pt x="10411079" y="4549394"/>
                  </a:lnTo>
                  <a:lnTo>
                    <a:pt x="176784" y="4549394"/>
                  </a:lnTo>
                  <a:lnTo>
                    <a:pt x="176784" y="4543044"/>
                  </a:lnTo>
                  <a:lnTo>
                    <a:pt x="176784" y="4549394"/>
                  </a:lnTo>
                  <a:cubicBezTo>
                    <a:pt x="79121" y="4549394"/>
                    <a:pt x="0" y="4470400"/>
                    <a:pt x="0" y="4372864"/>
                  </a:cubicBezTo>
                  <a:lnTo>
                    <a:pt x="0" y="176530"/>
                  </a:lnTo>
                  <a:lnTo>
                    <a:pt x="6350" y="176530"/>
                  </a:lnTo>
                  <a:lnTo>
                    <a:pt x="0" y="176530"/>
                  </a:lnTo>
                  <a:moveTo>
                    <a:pt x="12700" y="176530"/>
                  </a:moveTo>
                  <a:lnTo>
                    <a:pt x="12700" y="4372864"/>
                  </a:lnTo>
                  <a:lnTo>
                    <a:pt x="6350" y="4372864"/>
                  </a:lnTo>
                  <a:lnTo>
                    <a:pt x="12700" y="4372864"/>
                  </a:lnTo>
                  <a:cubicBezTo>
                    <a:pt x="12700" y="4463288"/>
                    <a:pt x="86106" y="4536694"/>
                    <a:pt x="176784" y="4536694"/>
                  </a:cubicBezTo>
                  <a:lnTo>
                    <a:pt x="10411079" y="4536694"/>
                  </a:lnTo>
                  <a:cubicBezTo>
                    <a:pt x="10501630" y="4536694"/>
                    <a:pt x="10575163" y="4463415"/>
                    <a:pt x="10575163" y="4372864"/>
                  </a:cubicBezTo>
                  <a:lnTo>
                    <a:pt x="10575163" y="176530"/>
                  </a:lnTo>
                  <a:cubicBezTo>
                    <a:pt x="10575163" y="86106"/>
                    <a:pt x="10501757" y="12700"/>
                    <a:pt x="10411079" y="12700"/>
                  </a:cubicBezTo>
                  <a:lnTo>
                    <a:pt x="176784" y="12700"/>
                  </a:lnTo>
                  <a:lnTo>
                    <a:pt x="176784" y="6350"/>
                  </a:lnTo>
                  <a:lnTo>
                    <a:pt x="176784" y="12700"/>
                  </a:lnTo>
                  <a:cubicBezTo>
                    <a:pt x="86106" y="12700"/>
                    <a:pt x="12700" y="85979"/>
                    <a:pt x="12700" y="176530"/>
                  </a:cubicBezTo>
                  <a:close/>
                </a:path>
              </a:pathLst>
            </a:custGeom>
            <a:solidFill>
              <a:srgbClr val="6D456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606705" y="2625623"/>
            <a:ext cx="911276" cy="911276"/>
            <a:chOff x="0" y="0"/>
            <a:chExt cx="1215034" cy="12150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15009" cy="1215009"/>
            </a:xfrm>
            <a:custGeom>
              <a:avLst/>
              <a:gdLst/>
              <a:ahLst/>
              <a:cxnLst/>
              <a:rect r="r" b="b" t="t" l="l"/>
              <a:pathLst>
                <a:path h="1215009" w="1215009">
                  <a:moveTo>
                    <a:pt x="0" y="607568"/>
                  </a:moveTo>
                  <a:cubicBezTo>
                    <a:pt x="0" y="272034"/>
                    <a:pt x="272034" y="0"/>
                    <a:pt x="607568" y="0"/>
                  </a:cubicBezTo>
                  <a:cubicBezTo>
                    <a:pt x="943102" y="0"/>
                    <a:pt x="1215009" y="272034"/>
                    <a:pt x="1215009" y="607568"/>
                  </a:cubicBezTo>
                  <a:cubicBezTo>
                    <a:pt x="1215009" y="943102"/>
                    <a:pt x="943102" y="1215009"/>
                    <a:pt x="607568" y="1215009"/>
                  </a:cubicBezTo>
                  <a:cubicBezTo>
                    <a:pt x="272034" y="1215009"/>
                    <a:pt x="0" y="943102"/>
                    <a:pt x="0" y="607568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9857337" y="2876102"/>
            <a:ext cx="410023" cy="410023"/>
          </a:xfrm>
          <a:custGeom>
            <a:avLst/>
            <a:gdLst/>
            <a:ahLst/>
            <a:cxnLst/>
            <a:rect r="r" b="b" t="t" l="l"/>
            <a:pathLst>
              <a:path h="410023" w="410023">
                <a:moveTo>
                  <a:pt x="0" y="0"/>
                </a:moveTo>
                <a:lnTo>
                  <a:pt x="410022" y="0"/>
                </a:lnTo>
                <a:lnTo>
                  <a:pt x="410022" y="410023"/>
                </a:lnTo>
                <a:lnTo>
                  <a:pt x="0" y="410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606705" y="3816848"/>
            <a:ext cx="4332532" cy="440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Enhance Loyalty Programs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06705" y="4351439"/>
            <a:ext cx="7304780" cy="1050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Reward repeat buyers to accelerate movement into loyal customer segment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58466" y="6009084"/>
            <a:ext cx="7940726" cy="3412036"/>
            <a:chOff x="0" y="0"/>
            <a:chExt cx="10587634" cy="454938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10574909" cy="4536694"/>
            </a:xfrm>
            <a:custGeom>
              <a:avLst/>
              <a:gdLst/>
              <a:ahLst/>
              <a:cxnLst/>
              <a:rect r="r" b="b" t="t" l="l"/>
              <a:pathLst>
                <a:path h="4536694" w="10574909">
                  <a:moveTo>
                    <a:pt x="0" y="170180"/>
                  </a:moveTo>
                  <a:cubicBezTo>
                    <a:pt x="0" y="76200"/>
                    <a:pt x="76327" y="0"/>
                    <a:pt x="170434" y="0"/>
                  </a:cubicBezTo>
                  <a:lnTo>
                    <a:pt x="10404475" y="0"/>
                  </a:lnTo>
                  <a:cubicBezTo>
                    <a:pt x="10498582" y="0"/>
                    <a:pt x="10574909" y="76200"/>
                    <a:pt x="10574909" y="170180"/>
                  </a:cubicBezTo>
                  <a:lnTo>
                    <a:pt x="10574909" y="4366514"/>
                  </a:lnTo>
                  <a:cubicBezTo>
                    <a:pt x="10574909" y="4460494"/>
                    <a:pt x="10498582" y="4536694"/>
                    <a:pt x="10404475" y="4536694"/>
                  </a:cubicBezTo>
                  <a:lnTo>
                    <a:pt x="170434" y="4536694"/>
                  </a:lnTo>
                  <a:cubicBezTo>
                    <a:pt x="76327" y="4536694"/>
                    <a:pt x="0" y="4460494"/>
                    <a:pt x="0" y="4366514"/>
                  </a:cubicBezTo>
                  <a:close/>
                </a:path>
              </a:pathLst>
            </a:custGeom>
            <a:solidFill>
              <a:srgbClr val="542C49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587609" cy="4549394"/>
            </a:xfrm>
            <a:custGeom>
              <a:avLst/>
              <a:gdLst/>
              <a:ahLst/>
              <a:cxnLst/>
              <a:rect r="r" b="b" t="t" l="l"/>
              <a:pathLst>
                <a:path h="4549394" w="10587609">
                  <a:moveTo>
                    <a:pt x="0" y="176530"/>
                  </a:moveTo>
                  <a:cubicBezTo>
                    <a:pt x="0" y="78994"/>
                    <a:pt x="79121" y="0"/>
                    <a:pt x="176784" y="0"/>
                  </a:cubicBezTo>
                  <a:lnTo>
                    <a:pt x="10410825" y="0"/>
                  </a:lnTo>
                  <a:lnTo>
                    <a:pt x="10410825" y="6350"/>
                  </a:lnTo>
                  <a:lnTo>
                    <a:pt x="10410825" y="0"/>
                  </a:lnTo>
                  <a:cubicBezTo>
                    <a:pt x="10508488" y="0"/>
                    <a:pt x="10587609" y="78994"/>
                    <a:pt x="10587609" y="176530"/>
                  </a:cubicBezTo>
                  <a:lnTo>
                    <a:pt x="10581259" y="176530"/>
                  </a:lnTo>
                  <a:lnTo>
                    <a:pt x="10587609" y="176530"/>
                  </a:lnTo>
                  <a:lnTo>
                    <a:pt x="10587609" y="4372864"/>
                  </a:lnTo>
                  <a:lnTo>
                    <a:pt x="10581259" y="4372864"/>
                  </a:lnTo>
                  <a:lnTo>
                    <a:pt x="10587609" y="4372864"/>
                  </a:lnTo>
                  <a:cubicBezTo>
                    <a:pt x="10587609" y="4470400"/>
                    <a:pt x="10508488" y="4549394"/>
                    <a:pt x="10410825" y="4549394"/>
                  </a:cubicBezTo>
                  <a:lnTo>
                    <a:pt x="10410825" y="4543044"/>
                  </a:lnTo>
                  <a:lnTo>
                    <a:pt x="10410825" y="4549394"/>
                  </a:lnTo>
                  <a:lnTo>
                    <a:pt x="176784" y="4549394"/>
                  </a:lnTo>
                  <a:lnTo>
                    <a:pt x="176784" y="4543044"/>
                  </a:lnTo>
                  <a:lnTo>
                    <a:pt x="176784" y="4549394"/>
                  </a:lnTo>
                  <a:cubicBezTo>
                    <a:pt x="79121" y="4549394"/>
                    <a:pt x="0" y="4470400"/>
                    <a:pt x="0" y="4372864"/>
                  </a:cubicBezTo>
                  <a:lnTo>
                    <a:pt x="0" y="176530"/>
                  </a:lnTo>
                  <a:lnTo>
                    <a:pt x="6350" y="176530"/>
                  </a:lnTo>
                  <a:lnTo>
                    <a:pt x="0" y="176530"/>
                  </a:lnTo>
                  <a:moveTo>
                    <a:pt x="12700" y="176530"/>
                  </a:moveTo>
                  <a:lnTo>
                    <a:pt x="12700" y="4372864"/>
                  </a:lnTo>
                  <a:lnTo>
                    <a:pt x="6350" y="4372864"/>
                  </a:lnTo>
                  <a:lnTo>
                    <a:pt x="12700" y="4372864"/>
                  </a:lnTo>
                  <a:cubicBezTo>
                    <a:pt x="12700" y="4463288"/>
                    <a:pt x="86106" y="4536694"/>
                    <a:pt x="176784" y="4536694"/>
                  </a:cubicBezTo>
                  <a:lnTo>
                    <a:pt x="10410825" y="4536694"/>
                  </a:lnTo>
                  <a:cubicBezTo>
                    <a:pt x="10501376" y="4536694"/>
                    <a:pt x="10574909" y="4463415"/>
                    <a:pt x="10574909" y="4372864"/>
                  </a:cubicBezTo>
                  <a:lnTo>
                    <a:pt x="10574909" y="176530"/>
                  </a:lnTo>
                  <a:cubicBezTo>
                    <a:pt x="10574909" y="86106"/>
                    <a:pt x="10501503" y="12700"/>
                    <a:pt x="10410825" y="12700"/>
                  </a:cubicBezTo>
                  <a:lnTo>
                    <a:pt x="176784" y="12700"/>
                  </a:lnTo>
                  <a:lnTo>
                    <a:pt x="176784" y="6350"/>
                  </a:lnTo>
                  <a:lnTo>
                    <a:pt x="176784" y="12700"/>
                  </a:lnTo>
                  <a:cubicBezTo>
                    <a:pt x="86106" y="12700"/>
                    <a:pt x="12700" y="85979"/>
                    <a:pt x="12700" y="176530"/>
                  </a:cubicBezTo>
                  <a:close/>
                </a:path>
              </a:pathLst>
            </a:custGeom>
            <a:solidFill>
              <a:srgbClr val="6D456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76515" y="6327134"/>
            <a:ext cx="911276" cy="911276"/>
            <a:chOff x="0" y="0"/>
            <a:chExt cx="1215034" cy="121503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15009" cy="1215009"/>
            </a:xfrm>
            <a:custGeom>
              <a:avLst/>
              <a:gdLst/>
              <a:ahLst/>
              <a:cxnLst/>
              <a:rect r="r" b="b" t="t" l="l"/>
              <a:pathLst>
                <a:path h="1215009" w="1215009">
                  <a:moveTo>
                    <a:pt x="0" y="607568"/>
                  </a:moveTo>
                  <a:cubicBezTo>
                    <a:pt x="0" y="272034"/>
                    <a:pt x="272034" y="0"/>
                    <a:pt x="607568" y="0"/>
                  </a:cubicBezTo>
                  <a:cubicBezTo>
                    <a:pt x="943102" y="0"/>
                    <a:pt x="1215009" y="272034"/>
                    <a:pt x="1215009" y="607568"/>
                  </a:cubicBezTo>
                  <a:cubicBezTo>
                    <a:pt x="1215009" y="943102"/>
                    <a:pt x="943102" y="1215009"/>
                    <a:pt x="607568" y="1215009"/>
                  </a:cubicBezTo>
                  <a:cubicBezTo>
                    <a:pt x="272034" y="1215009"/>
                    <a:pt x="0" y="943102"/>
                    <a:pt x="0" y="607568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</p:grpSp>
      <p:sp>
        <p:nvSpPr>
          <p:cNvPr name="Freeform 28" id="28" descr="preencoded.png"/>
          <p:cNvSpPr/>
          <p:nvPr/>
        </p:nvSpPr>
        <p:spPr>
          <a:xfrm flipH="false" flipV="false" rot="0">
            <a:off x="1627137" y="6577603"/>
            <a:ext cx="410023" cy="410023"/>
          </a:xfrm>
          <a:custGeom>
            <a:avLst/>
            <a:gdLst/>
            <a:ahLst/>
            <a:cxnLst/>
            <a:rect r="r" b="b" t="t" l="l"/>
            <a:pathLst>
              <a:path h="410023" w="410023">
                <a:moveTo>
                  <a:pt x="0" y="0"/>
                </a:moveTo>
                <a:lnTo>
                  <a:pt x="410022" y="0"/>
                </a:lnTo>
                <a:lnTo>
                  <a:pt x="410022" y="410023"/>
                </a:lnTo>
                <a:lnTo>
                  <a:pt x="0" y="4100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376515" y="7518349"/>
            <a:ext cx="4505620" cy="440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Optimize Discount Strategy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76515" y="8052940"/>
            <a:ext cx="7304637" cy="1050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Balance sales boosts with margin control, especially for high-discount products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288666" y="6009084"/>
            <a:ext cx="7940878" cy="3412036"/>
            <a:chOff x="0" y="0"/>
            <a:chExt cx="10587838" cy="45493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350" y="6350"/>
              <a:ext cx="10575163" cy="4536694"/>
            </a:xfrm>
            <a:custGeom>
              <a:avLst/>
              <a:gdLst/>
              <a:ahLst/>
              <a:cxnLst/>
              <a:rect r="r" b="b" t="t" l="l"/>
              <a:pathLst>
                <a:path h="4536694" w="10575163">
                  <a:moveTo>
                    <a:pt x="0" y="170180"/>
                  </a:moveTo>
                  <a:cubicBezTo>
                    <a:pt x="0" y="76200"/>
                    <a:pt x="76327" y="0"/>
                    <a:pt x="170434" y="0"/>
                  </a:cubicBezTo>
                  <a:lnTo>
                    <a:pt x="10404729" y="0"/>
                  </a:lnTo>
                  <a:cubicBezTo>
                    <a:pt x="10498836" y="0"/>
                    <a:pt x="10575163" y="76200"/>
                    <a:pt x="10575163" y="170180"/>
                  </a:cubicBezTo>
                  <a:lnTo>
                    <a:pt x="10575163" y="4366514"/>
                  </a:lnTo>
                  <a:cubicBezTo>
                    <a:pt x="10575163" y="4460494"/>
                    <a:pt x="10498836" y="4536694"/>
                    <a:pt x="10404729" y="4536694"/>
                  </a:cubicBezTo>
                  <a:lnTo>
                    <a:pt x="170434" y="4536694"/>
                  </a:lnTo>
                  <a:cubicBezTo>
                    <a:pt x="76327" y="4536694"/>
                    <a:pt x="0" y="4460494"/>
                    <a:pt x="0" y="4366514"/>
                  </a:cubicBezTo>
                  <a:close/>
                </a:path>
              </a:pathLst>
            </a:custGeom>
            <a:solidFill>
              <a:srgbClr val="542C49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587863" cy="4549394"/>
            </a:xfrm>
            <a:custGeom>
              <a:avLst/>
              <a:gdLst/>
              <a:ahLst/>
              <a:cxnLst/>
              <a:rect r="r" b="b" t="t" l="l"/>
              <a:pathLst>
                <a:path h="4549394" w="10587863">
                  <a:moveTo>
                    <a:pt x="0" y="176530"/>
                  </a:moveTo>
                  <a:cubicBezTo>
                    <a:pt x="0" y="78994"/>
                    <a:pt x="79121" y="0"/>
                    <a:pt x="176784" y="0"/>
                  </a:cubicBezTo>
                  <a:lnTo>
                    <a:pt x="10411079" y="0"/>
                  </a:lnTo>
                  <a:lnTo>
                    <a:pt x="10411079" y="6350"/>
                  </a:lnTo>
                  <a:lnTo>
                    <a:pt x="10411079" y="0"/>
                  </a:lnTo>
                  <a:cubicBezTo>
                    <a:pt x="10508742" y="0"/>
                    <a:pt x="10587863" y="78994"/>
                    <a:pt x="10587863" y="176530"/>
                  </a:cubicBezTo>
                  <a:lnTo>
                    <a:pt x="10581513" y="176530"/>
                  </a:lnTo>
                  <a:lnTo>
                    <a:pt x="10587863" y="176530"/>
                  </a:lnTo>
                  <a:lnTo>
                    <a:pt x="10587863" y="4372864"/>
                  </a:lnTo>
                  <a:lnTo>
                    <a:pt x="10581513" y="4372864"/>
                  </a:lnTo>
                  <a:lnTo>
                    <a:pt x="10587863" y="4372864"/>
                  </a:lnTo>
                  <a:cubicBezTo>
                    <a:pt x="10587863" y="4470400"/>
                    <a:pt x="10508742" y="4549394"/>
                    <a:pt x="10411079" y="4549394"/>
                  </a:cubicBezTo>
                  <a:lnTo>
                    <a:pt x="10411079" y="4543044"/>
                  </a:lnTo>
                  <a:lnTo>
                    <a:pt x="10411079" y="4549394"/>
                  </a:lnTo>
                  <a:lnTo>
                    <a:pt x="176784" y="4549394"/>
                  </a:lnTo>
                  <a:lnTo>
                    <a:pt x="176784" y="4543044"/>
                  </a:lnTo>
                  <a:lnTo>
                    <a:pt x="176784" y="4549394"/>
                  </a:lnTo>
                  <a:cubicBezTo>
                    <a:pt x="79121" y="4549394"/>
                    <a:pt x="0" y="4470400"/>
                    <a:pt x="0" y="4372864"/>
                  </a:cubicBezTo>
                  <a:lnTo>
                    <a:pt x="0" y="176530"/>
                  </a:lnTo>
                  <a:lnTo>
                    <a:pt x="6350" y="176530"/>
                  </a:lnTo>
                  <a:lnTo>
                    <a:pt x="0" y="176530"/>
                  </a:lnTo>
                  <a:moveTo>
                    <a:pt x="12700" y="176530"/>
                  </a:moveTo>
                  <a:lnTo>
                    <a:pt x="12700" y="4372864"/>
                  </a:lnTo>
                  <a:lnTo>
                    <a:pt x="6350" y="4372864"/>
                  </a:lnTo>
                  <a:lnTo>
                    <a:pt x="12700" y="4372864"/>
                  </a:lnTo>
                  <a:cubicBezTo>
                    <a:pt x="12700" y="4463288"/>
                    <a:pt x="86106" y="4536694"/>
                    <a:pt x="176784" y="4536694"/>
                  </a:cubicBezTo>
                  <a:lnTo>
                    <a:pt x="10411079" y="4536694"/>
                  </a:lnTo>
                  <a:cubicBezTo>
                    <a:pt x="10501630" y="4536694"/>
                    <a:pt x="10575163" y="4463415"/>
                    <a:pt x="10575163" y="4372864"/>
                  </a:cubicBezTo>
                  <a:lnTo>
                    <a:pt x="10575163" y="176530"/>
                  </a:lnTo>
                  <a:cubicBezTo>
                    <a:pt x="10575163" y="86106"/>
                    <a:pt x="10501757" y="12700"/>
                    <a:pt x="10411079" y="12700"/>
                  </a:cubicBezTo>
                  <a:lnTo>
                    <a:pt x="176784" y="12700"/>
                  </a:lnTo>
                  <a:lnTo>
                    <a:pt x="176784" y="6350"/>
                  </a:lnTo>
                  <a:lnTo>
                    <a:pt x="176784" y="12700"/>
                  </a:lnTo>
                  <a:cubicBezTo>
                    <a:pt x="86106" y="12700"/>
                    <a:pt x="12700" y="85979"/>
                    <a:pt x="12700" y="176530"/>
                  </a:cubicBezTo>
                  <a:close/>
                </a:path>
              </a:pathLst>
            </a:custGeom>
            <a:solidFill>
              <a:srgbClr val="6D4562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606705" y="6327134"/>
            <a:ext cx="911276" cy="911276"/>
            <a:chOff x="0" y="0"/>
            <a:chExt cx="1215034" cy="12150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15009" cy="1215009"/>
            </a:xfrm>
            <a:custGeom>
              <a:avLst/>
              <a:gdLst/>
              <a:ahLst/>
              <a:cxnLst/>
              <a:rect r="r" b="b" t="t" l="l"/>
              <a:pathLst>
                <a:path h="1215009" w="1215009">
                  <a:moveTo>
                    <a:pt x="0" y="607568"/>
                  </a:moveTo>
                  <a:cubicBezTo>
                    <a:pt x="0" y="272034"/>
                    <a:pt x="272034" y="0"/>
                    <a:pt x="607568" y="0"/>
                  </a:cubicBezTo>
                  <a:cubicBezTo>
                    <a:pt x="943102" y="0"/>
                    <a:pt x="1215009" y="272034"/>
                    <a:pt x="1215009" y="607568"/>
                  </a:cubicBezTo>
                  <a:cubicBezTo>
                    <a:pt x="1215009" y="943102"/>
                    <a:pt x="943102" y="1215009"/>
                    <a:pt x="607568" y="1215009"/>
                  </a:cubicBezTo>
                  <a:cubicBezTo>
                    <a:pt x="272034" y="1215009"/>
                    <a:pt x="0" y="943102"/>
                    <a:pt x="0" y="607568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</p:grpSp>
      <p:sp>
        <p:nvSpPr>
          <p:cNvPr name="Freeform 36" id="36" descr="preencoded.png"/>
          <p:cNvSpPr/>
          <p:nvPr/>
        </p:nvSpPr>
        <p:spPr>
          <a:xfrm flipH="false" flipV="false" rot="0">
            <a:off x="9857337" y="6577603"/>
            <a:ext cx="410023" cy="410023"/>
          </a:xfrm>
          <a:custGeom>
            <a:avLst/>
            <a:gdLst/>
            <a:ahLst/>
            <a:cxnLst/>
            <a:rect r="r" b="b" t="t" l="l"/>
            <a:pathLst>
              <a:path h="410023" w="410023">
                <a:moveTo>
                  <a:pt x="0" y="0"/>
                </a:moveTo>
                <a:lnTo>
                  <a:pt x="410022" y="0"/>
                </a:lnTo>
                <a:lnTo>
                  <a:pt x="410022" y="410023"/>
                </a:lnTo>
                <a:lnTo>
                  <a:pt x="0" y="4100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9606705" y="7518349"/>
            <a:ext cx="4709074" cy="440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Target High-Value Segments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606705" y="8052940"/>
            <a:ext cx="7304780" cy="1050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Focus marketing on young adults and express-shipping users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DAHIAcBwUJU</dc:identifier>
  <dcterms:modified xsi:type="dcterms:W3CDTF">2011-08-01T06:04:30Z</dcterms:modified>
  <cp:revision>1</cp:revision>
  <dc:title>Customer_Shopping_Behavior_Analysis PPT.pptx</dc:title>
</cp:coreProperties>
</file>
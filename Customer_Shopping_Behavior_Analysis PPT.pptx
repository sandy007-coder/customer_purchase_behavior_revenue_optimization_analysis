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Prompt Medium"/>
      <p:regular r:id="rId18"/>
    </p:embeddedFont>
    <p:embeddedFont>
      <p:font typeface="Prompt Medium"/>
      <p:regular r:id="rId19"/>
    </p:embeddedFont>
    <p:embeddedFont>
      <p:font typeface="Prompt Medium"/>
      <p:regular r:id="rId20"/>
    </p:embeddedFont>
    <p:embeddedFont>
      <p:font typeface="Prompt Medium"/>
      <p:regular r:id="rId21"/>
    </p:embeddedFont>
    <p:embeddedFont>
      <p:font typeface="Mukta Light"/>
      <p:regular r:id="rId22"/>
    </p:embeddedFont>
    <p:embeddedFont>
      <p:font typeface="Mukta Light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12.xml"/><Relationship Id="rId10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848808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Customer Shopping Behavior Analysis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4590693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Uncovering insights from 3,900 purchases to guide strategic business decisions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982028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Dataset Overview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284928"/>
            <a:ext cx="40950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3,900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411843" y="3408045"/>
            <a:ext cx="29994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Transactions Analyzed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864037" y="3899059"/>
            <a:ext cx="409503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Purchase data across diverse product categories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267682" y="2284928"/>
            <a:ext cx="40950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18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943600" y="340804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 Fields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5267682" y="3899059"/>
            <a:ext cx="409503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Comprehensive customer and purchase details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71328" y="2284928"/>
            <a:ext cx="40950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37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10347246" y="340804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Missing Values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9671328" y="3899059"/>
            <a:ext cx="409503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Addressed in Review Rating column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4037" y="521362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Features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864037" y="5803344"/>
            <a:ext cx="6150054" cy="135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Customer demographics (Age, Gender, Location)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Purchase details (Category, Amount, Season)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Shopping behavior (Discounts, Frequency, Ratings)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623929" y="521362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Missing Data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7623929" y="5803344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37 values in Review Rating column imputed using median ratings by product category.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61956"/>
            <a:ext cx="674560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 Preparation Process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541508"/>
            <a:ext cx="49375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01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4037" y="2930604"/>
            <a:ext cx="4136231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5" name="Text 3"/>
          <p:cNvSpPr/>
          <p:nvPr/>
        </p:nvSpPr>
        <p:spPr>
          <a:xfrm>
            <a:off x="864037" y="311491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 Loading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864037" y="3605927"/>
            <a:ext cx="413623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Imported dataset using pandas with initial exploration via df.info() and describe()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247084" y="2541508"/>
            <a:ext cx="49375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47084" y="2930604"/>
            <a:ext cx="4136231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9" name="Text 7"/>
          <p:cNvSpPr/>
          <p:nvPr/>
        </p:nvSpPr>
        <p:spPr>
          <a:xfrm>
            <a:off x="5247084" y="3114913"/>
            <a:ext cx="297727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Missing Data Handling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5247084" y="3605927"/>
            <a:ext cx="41362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Imputed 37 missing review ratings using median by product category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30132" y="2541508"/>
            <a:ext cx="49375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630132" y="2930604"/>
            <a:ext cx="4136231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3" name="Text 11"/>
          <p:cNvSpPr/>
          <p:nvPr/>
        </p:nvSpPr>
        <p:spPr>
          <a:xfrm>
            <a:off x="9630132" y="3114913"/>
            <a:ext cx="31792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Column Standardization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9630132" y="3605927"/>
            <a:ext cx="41362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Rewrote columns to snake case for better readability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4037" y="5223034"/>
            <a:ext cx="49375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04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64037" y="5612130"/>
            <a:ext cx="6327696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7" name="Text 15"/>
          <p:cNvSpPr/>
          <p:nvPr/>
        </p:nvSpPr>
        <p:spPr>
          <a:xfrm>
            <a:off x="864037" y="579643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Feature Engineering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864037" y="6287453"/>
            <a:ext cx="632769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Created age_group and purchase_frequency_days columns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438549" y="5223034"/>
            <a:ext cx="49375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05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438549" y="5612130"/>
            <a:ext cx="6327815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21" name="Text 19"/>
          <p:cNvSpPr/>
          <p:nvPr/>
        </p:nvSpPr>
        <p:spPr>
          <a:xfrm>
            <a:off x="7438549" y="5796439"/>
            <a:ext cx="279368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Database Integration</a:t>
            </a:r>
            <a:endParaRPr lang="en-US" sz="2150" dirty="0"/>
          </a:p>
        </p:txBody>
      </p:sp>
      <p:sp>
        <p:nvSpPr>
          <p:cNvPr id="22" name="Text 20"/>
          <p:cNvSpPr/>
          <p:nvPr/>
        </p:nvSpPr>
        <p:spPr>
          <a:xfrm>
            <a:off x="7438549" y="6287453"/>
            <a:ext cx="632781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Connected to PostgreSQL and loaded cleaned DataFrame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121932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SQL Analysis: Revenue Insights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11063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Revenue by Gender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4037" y="4700349"/>
            <a:ext cx="340685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Male customers generated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$157,890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vs. Female customers at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$75,191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880729" y="4110633"/>
            <a:ext cx="287607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Shipping Comparison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4880729" y="4700349"/>
            <a:ext cx="3406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Express shipping: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$60.48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average vs. Standard: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$58.46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128718"/>
            <a:ext cx="568011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Product Performance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3308271"/>
            <a:ext cx="4136231" cy="2792611"/>
          </a:xfrm>
          <a:prstGeom prst="roundRect">
            <a:avLst>
              <a:gd name="adj" fmla="val 3713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6093" y="3570327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A95B9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9690" y="3773924"/>
            <a:ext cx="333256" cy="333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6093" y="455771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Top Rated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126093" y="5048726"/>
            <a:ext cx="361211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Gloves (3.86), Sandals (3.84), Boots (3.82)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47084" y="3308271"/>
            <a:ext cx="4136231" cy="2792611"/>
          </a:xfrm>
          <a:prstGeom prst="roundRect">
            <a:avLst>
              <a:gd name="adj" fmla="val 3713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09141" y="3570327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A95B9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2738" y="3773924"/>
            <a:ext cx="333256" cy="3332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09141" y="455771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Most Discounted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5509141" y="5048726"/>
            <a:ext cx="361211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Hat (50%), Sneakers (49.66%), Coat (49.07%)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9630132" y="3308271"/>
            <a:ext cx="4136231" cy="2792611"/>
          </a:xfrm>
          <a:prstGeom prst="roundRect">
            <a:avLst>
              <a:gd name="adj" fmla="val 3713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92189" y="3570327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A95B9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95786" y="3773924"/>
            <a:ext cx="333256" cy="3332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92189" y="455771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Best Sellers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9892189" y="5048726"/>
            <a:ext cx="361211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Blouse, Pants, Jewelry, Sunglasses (171 orders each)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8673" y="630912"/>
            <a:ext cx="8194358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Subscription &amp; Customer Segments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1596628" y="2963823"/>
            <a:ext cx="2609612" cy="530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50"/>
              </a:lnSpc>
              <a:buNone/>
            </a:pPr>
            <a:r>
              <a:rPr lang="en-US" sz="4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27%</a:t>
            </a:r>
            <a:endParaRPr lang="en-US" sz="4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0283" y="1637824"/>
            <a:ext cx="3182541" cy="31825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22834" y="5055632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Subscribers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08673" y="5459611"/>
            <a:ext cx="4185761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1,053 customers with subscription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010275" y="2963823"/>
            <a:ext cx="2609612" cy="530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50"/>
              </a:lnSpc>
              <a:buNone/>
            </a:pPr>
            <a:r>
              <a:rPr lang="en-US" sz="4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80%</a:t>
            </a:r>
            <a:endParaRPr lang="en-US" sz="4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930" y="1637824"/>
            <a:ext cx="3182541" cy="31825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36481" y="5055632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Loyal Customers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222319" y="5459611"/>
            <a:ext cx="4185761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3,116 customers in loyal segment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0423922" y="2963823"/>
            <a:ext cx="2609612" cy="530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50"/>
              </a:lnSpc>
              <a:buNone/>
            </a:pPr>
            <a:r>
              <a:rPr lang="en-US" sz="4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18%</a:t>
            </a:r>
            <a:endParaRPr lang="en-US" sz="4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7577" y="1637824"/>
            <a:ext cx="3182541" cy="318254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50128" y="5055632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Returning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9635966" y="5459611"/>
            <a:ext cx="4185761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701 customers making repeat purchases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808673" y="6162437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Revenue by Status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808673" y="6639401"/>
            <a:ext cx="6247686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Non-subscribers: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$170,436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(2,847 customers)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808673" y="7118985"/>
            <a:ext cx="6247686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Subscribers: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$62,645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(1,053 customers)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7581662" y="6162437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Repeat Buyers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7581662" y="6639401"/>
            <a:ext cx="6247686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958 repeat buyers (over 5 purchases) vs. 2,518 single-time buyers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15283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Age Group Analysis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2618184"/>
            <a:ext cx="5465088" cy="308610"/>
          </a:xfrm>
          <a:prstGeom prst="roundRect">
            <a:avLst>
              <a:gd name="adj" fmla="val 3360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037" y="2618184"/>
            <a:ext cx="1420892" cy="308610"/>
          </a:xfrm>
          <a:prstGeom prst="roundRect">
            <a:avLst>
              <a:gd name="adj" fmla="val 33600"/>
            </a:avLst>
          </a:prstGeom>
          <a:solidFill>
            <a:srgbClr val="A95B95"/>
          </a:solidFill>
          <a:ln/>
        </p:spPr>
      </p:sp>
      <p:sp>
        <p:nvSpPr>
          <p:cNvPr id="5" name="Text 3"/>
          <p:cNvSpPr/>
          <p:nvPr/>
        </p:nvSpPr>
        <p:spPr>
          <a:xfrm>
            <a:off x="6514267" y="2618184"/>
            <a:ext cx="64662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26%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4037" y="323528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Young Adult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864037" y="3726299"/>
            <a:ext cx="62968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$62,143 revenue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469505" y="2618184"/>
            <a:ext cx="5478066" cy="308610"/>
          </a:xfrm>
          <a:prstGeom prst="roundRect">
            <a:avLst>
              <a:gd name="adj" fmla="val 3360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69505" y="2618184"/>
            <a:ext cx="1369457" cy="308610"/>
          </a:xfrm>
          <a:prstGeom prst="roundRect">
            <a:avLst>
              <a:gd name="adj" fmla="val 33600"/>
            </a:avLst>
          </a:prstGeom>
          <a:solidFill>
            <a:srgbClr val="A95B95"/>
          </a:solidFill>
          <a:ln/>
        </p:spPr>
      </p:sp>
      <p:sp>
        <p:nvSpPr>
          <p:cNvPr id="10" name="Text 8"/>
          <p:cNvSpPr/>
          <p:nvPr/>
        </p:nvSpPr>
        <p:spPr>
          <a:xfrm>
            <a:off x="13132713" y="2618184"/>
            <a:ext cx="633651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25%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69505" y="323528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Middle-aged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469505" y="3726299"/>
            <a:ext cx="62968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$59,197 revenue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64037" y="4738449"/>
            <a:ext cx="5468183" cy="308610"/>
          </a:xfrm>
          <a:prstGeom prst="roundRect">
            <a:avLst>
              <a:gd name="adj" fmla="val 3360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037" y="4738449"/>
            <a:ext cx="1312307" cy="308610"/>
          </a:xfrm>
          <a:prstGeom prst="roundRect">
            <a:avLst>
              <a:gd name="adj" fmla="val 33600"/>
            </a:avLst>
          </a:prstGeom>
          <a:solidFill>
            <a:srgbClr val="A95B95"/>
          </a:solidFill>
          <a:ln/>
        </p:spPr>
      </p:sp>
      <p:sp>
        <p:nvSpPr>
          <p:cNvPr id="15" name="Text 13"/>
          <p:cNvSpPr/>
          <p:nvPr/>
        </p:nvSpPr>
        <p:spPr>
          <a:xfrm>
            <a:off x="6517362" y="4738449"/>
            <a:ext cx="64353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24%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64037" y="535555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Adult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864037" y="5846564"/>
            <a:ext cx="62968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$55,978 revenue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469505" y="4738449"/>
            <a:ext cx="5468183" cy="308610"/>
          </a:xfrm>
          <a:prstGeom prst="roundRect">
            <a:avLst>
              <a:gd name="adj" fmla="val 3360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69505" y="4738449"/>
            <a:ext cx="1312307" cy="308610"/>
          </a:xfrm>
          <a:prstGeom prst="roundRect">
            <a:avLst>
              <a:gd name="adj" fmla="val 33600"/>
            </a:avLst>
          </a:prstGeom>
          <a:solidFill>
            <a:srgbClr val="A95B95"/>
          </a:solidFill>
          <a:ln/>
        </p:spPr>
      </p:sp>
      <p:sp>
        <p:nvSpPr>
          <p:cNvPr id="20" name="Text 18"/>
          <p:cNvSpPr/>
          <p:nvPr/>
        </p:nvSpPr>
        <p:spPr>
          <a:xfrm>
            <a:off x="13122831" y="4738449"/>
            <a:ext cx="64353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24%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69505" y="535555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Senior</a:t>
            </a:r>
            <a:endParaRPr lang="en-US" sz="2150" dirty="0"/>
          </a:p>
        </p:txBody>
      </p:sp>
      <p:sp>
        <p:nvSpPr>
          <p:cNvPr id="22" name="Text 20"/>
          <p:cNvSpPr/>
          <p:nvPr/>
        </p:nvSpPr>
        <p:spPr>
          <a:xfrm>
            <a:off x="7469505" y="5846564"/>
            <a:ext cx="62968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$55,763 revenue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64037" y="6519267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Young Adults drive the highest revenue at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$62,143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followed by Middle-aged customers at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$59,197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471380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Power BI Dashboard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3527465"/>
            <a:ext cx="4136231" cy="2230755"/>
          </a:xfrm>
          <a:prstGeom prst="roundRect">
            <a:avLst>
              <a:gd name="adj" fmla="val 4648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333" y="380476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KPIs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1141333" y="4295775"/>
            <a:ext cx="358163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3,900 customers, $59.76 average purchase, 3.75 average rating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247084" y="3527465"/>
            <a:ext cx="4136231" cy="2230755"/>
          </a:xfrm>
          <a:prstGeom prst="roundRect">
            <a:avLst>
              <a:gd name="adj" fmla="val 4648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381" y="380476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Interactive Filters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5524381" y="4295775"/>
            <a:ext cx="358163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Subscription status, gender, category, shipping type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30132" y="3527465"/>
            <a:ext cx="4136231" cy="2230755"/>
          </a:xfrm>
          <a:prstGeom prst="roundRect">
            <a:avLst>
              <a:gd name="adj" fmla="val 4648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7429" y="380476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Visualizations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9907429" y="4295775"/>
            <a:ext cx="358163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Donut charts, bar charts showing revenue and sales by category and age group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074" y="685681"/>
            <a:ext cx="4972050" cy="621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0372" y="1712714"/>
            <a:ext cx="10589538" cy="58312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964412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Findings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314396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66280" y="3228737"/>
            <a:ext cx="5494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Male customers spend 2.1x more than female customers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1666280" y="4062651"/>
            <a:ext cx="549461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$157,890 vs. $75,191 in total revenue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69505" y="314396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71748" y="3228737"/>
            <a:ext cx="5494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Express shipping customers spend $2 more on average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8271748" y="4062651"/>
            <a:ext cx="549461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$60.48 vs. $58.46 for standard shipping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4037" y="4951452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6280" y="5036225"/>
            <a:ext cx="5494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80% of customers are loyal repeat buyers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666280" y="5870138"/>
            <a:ext cx="549461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3,116 loyal customers out of 3,900 total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469505" y="4951452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1748" y="5036225"/>
            <a:ext cx="481881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Young adults drive highest revenue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8271748" y="5527238"/>
            <a:ext cx="549461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$62,143 from young adult segment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583" y="696397"/>
            <a:ext cx="7349847" cy="675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Strategic Recommendations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850583" y="1849874"/>
            <a:ext cx="6344960" cy="2722007"/>
          </a:xfrm>
          <a:prstGeom prst="roundRect">
            <a:avLst>
              <a:gd name="adj" fmla="val 375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1209" y="2100501"/>
            <a:ext cx="729020" cy="729020"/>
          </a:xfrm>
          <a:prstGeom prst="roundRect">
            <a:avLst>
              <a:gd name="adj" fmla="val 12541611"/>
            </a:avLst>
          </a:prstGeom>
          <a:solidFill>
            <a:srgbClr val="A95B9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01710" y="2300883"/>
            <a:ext cx="328017" cy="328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1209" y="3068717"/>
            <a:ext cx="270033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Boost Subscriptions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101209" y="3549729"/>
            <a:ext cx="5843707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Promote exclusive benefits to increase subscriber base from current 27%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34739" y="1849874"/>
            <a:ext cx="6345079" cy="2722007"/>
          </a:xfrm>
          <a:prstGeom prst="roundRect">
            <a:avLst>
              <a:gd name="adj" fmla="val 375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85365" y="2100501"/>
            <a:ext cx="729020" cy="729020"/>
          </a:xfrm>
          <a:prstGeom prst="roundRect">
            <a:avLst>
              <a:gd name="adj" fmla="val 12541611"/>
            </a:avLst>
          </a:prstGeom>
          <a:solidFill>
            <a:srgbClr val="A95B9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5867" y="2300883"/>
            <a:ext cx="328017" cy="3280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5365" y="3068717"/>
            <a:ext cx="346602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Enhance Loyalty Programs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7685365" y="3549729"/>
            <a:ext cx="584382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Reward repeat buyers to accelerate movement into loyal customer segment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850583" y="4811077"/>
            <a:ext cx="6344960" cy="2722007"/>
          </a:xfrm>
          <a:prstGeom prst="roundRect">
            <a:avLst>
              <a:gd name="adj" fmla="val 375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01209" y="5061704"/>
            <a:ext cx="729020" cy="729020"/>
          </a:xfrm>
          <a:prstGeom prst="roundRect">
            <a:avLst>
              <a:gd name="adj" fmla="val 12541611"/>
            </a:avLst>
          </a:prstGeom>
          <a:solidFill>
            <a:srgbClr val="A95B9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1710" y="5262086"/>
            <a:ext cx="328017" cy="32801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01209" y="6029920"/>
            <a:ext cx="360449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Optimize Discount Strategy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1101209" y="6510933"/>
            <a:ext cx="5843707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Balance sales boosts with margin control, especially for high-discount products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7434739" y="4811077"/>
            <a:ext cx="6345079" cy="2722007"/>
          </a:xfrm>
          <a:prstGeom prst="roundRect">
            <a:avLst>
              <a:gd name="adj" fmla="val 375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85365" y="5061704"/>
            <a:ext cx="729020" cy="729020"/>
          </a:xfrm>
          <a:prstGeom prst="roundRect">
            <a:avLst>
              <a:gd name="adj" fmla="val 12541611"/>
            </a:avLst>
          </a:prstGeom>
          <a:solidFill>
            <a:srgbClr val="A95B9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85867" y="5262086"/>
            <a:ext cx="328017" cy="32801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5365" y="6029920"/>
            <a:ext cx="3767257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Target High-Value Segments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7685365" y="6510933"/>
            <a:ext cx="584382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Focus marketing on young adults and express-shipping users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2026-04-22T12:49:20Z</dcterms:created>
  <dcterms:modified xsi:type="dcterms:W3CDTF">2026-04-22T12:49:20Z</dcterms:modified>
</cp:coreProperties>
</file>